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jpg" ContentType="image/jp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9144000" cy="6858000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60705" y="411226"/>
            <a:ext cx="6593205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6465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6465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6465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46465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971540"/>
          </a:xfrm>
          <a:custGeom>
            <a:avLst/>
            <a:gdLst/>
            <a:ahLst/>
            <a:cxnLst/>
            <a:rect l="l" t="t" r="r" b="b"/>
            <a:pathLst>
              <a:path w="9144000" h="5971540">
                <a:moveTo>
                  <a:pt x="0" y="5971032"/>
                </a:moveTo>
                <a:lnTo>
                  <a:pt x="9144000" y="5971032"/>
                </a:lnTo>
                <a:lnTo>
                  <a:pt x="9144000" y="0"/>
                </a:lnTo>
                <a:lnTo>
                  <a:pt x="0" y="0"/>
                </a:lnTo>
                <a:lnTo>
                  <a:pt x="0" y="5971032"/>
                </a:lnTo>
                <a:close/>
              </a:path>
            </a:pathLst>
          </a:custGeom>
          <a:solidFill>
            <a:srgbClr val="4646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0" y="5971032"/>
            <a:ext cx="9144000" cy="887094"/>
          </a:xfrm>
          <a:custGeom>
            <a:avLst/>
            <a:gdLst/>
            <a:ahLst/>
            <a:cxnLst/>
            <a:rect l="l" t="t" r="r" b="b"/>
            <a:pathLst>
              <a:path w="9144000" h="887095">
                <a:moveTo>
                  <a:pt x="9144000" y="0"/>
                </a:moveTo>
                <a:lnTo>
                  <a:pt x="0" y="0"/>
                </a:lnTo>
                <a:lnTo>
                  <a:pt x="0" y="886968"/>
                </a:lnTo>
                <a:lnTo>
                  <a:pt x="9144000" y="886968"/>
                </a:lnTo>
                <a:lnTo>
                  <a:pt x="91440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g object 18"/>
          <p:cNvSpPr/>
          <p:nvPr/>
        </p:nvSpPr>
        <p:spPr>
          <a:xfrm>
            <a:off x="0" y="6053328"/>
            <a:ext cx="2240280" cy="713740"/>
          </a:xfrm>
          <a:custGeom>
            <a:avLst/>
            <a:gdLst/>
            <a:ahLst/>
            <a:cxnLst/>
            <a:rect l="l" t="t" r="r" b="b"/>
            <a:pathLst>
              <a:path w="2240280" h="713740">
                <a:moveTo>
                  <a:pt x="2240280" y="0"/>
                </a:moveTo>
                <a:lnTo>
                  <a:pt x="0" y="0"/>
                </a:lnTo>
                <a:lnTo>
                  <a:pt x="0" y="713232"/>
                </a:lnTo>
                <a:lnTo>
                  <a:pt x="2240280" y="713232"/>
                </a:lnTo>
                <a:lnTo>
                  <a:pt x="224028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bg object 19"/>
          <p:cNvSpPr/>
          <p:nvPr/>
        </p:nvSpPr>
        <p:spPr>
          <a:xfrm>
            <a:off x="2359151" y="6044184"/>
            <a:ext cx="6784975" cy="713740"/>
          </a:xfrm>
          <a:custGeom>
            <a:avLst/>
            <a:gdLst/>
            <a:ahLst/>
            <a:cxnLst/>
            <a:rect l="l" t="t" r="r" b="b"/>
            <a:pathLst>
              <a:path w="6784975" h="713740">
                <a:moveTo>
                  <a:pt x="6784848" y="0"/>
                </a:moveTo>
                <a:lnTo>
                  <a:pt x="0" y="0"/>
                </a:lnTo>
                <a:lnTo>
                  <a:pt x="0" y="713231"/>
                </a:lnTo>
                <a:lnTo>
                  <a:pt x="6784848" y="713231"/>
                </a:lnTo>
                <a:lnTo>
                  <a:pt x="6784848" y="0"/>
                </a:lnTo>
                <a:close/>
              </a:path>
            </a:pathLst>
          </a:custGeom>
          <a:solidFill>
            <a:srgbClr val="717B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1280160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3400" y="0"/>
                </a:moveTo>
                <a:lnTo>
                  <a:pt x="0" y="0"/>
                </a:lnTo>
                <a:lnTo>
                  <a:pt x="0" y="228600"/>
                </a:lnTo>
                <a:lnTo>
                  <a:pt x="533400" y="228600"/>
                </a:lnTo>
                <a:lnTo>
                  <a:pt x="533400" y="0"/>
                </a:lnTo>
                <a:close/>
              </a:path>
            </a:pathLst>
          </a:custGeom>
          <a:solidFill>
            <a:srgbClr val="9FB8CD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591312" y="1280160"/>
            <a:ext cx="8552815" cy="228600"/>
          </a:xfrm>
          <a:custGeom>
            <a:avLst/>
            <a:gdLst/>
            <a:ahLst/>
            <a:cxnLst/>
            <a:rect l="l" t="t" r="r" b="b"/>
            <a:pathLst>
              <a:path w="8552815" h="228600">
                <a:moveTo>
                  <a:pt x="8552688" y="0"/>
                </a:moveTo>
                <a:lnTo>
                  <a:pt x="0" y="0"/>
                </a:lnTo>
                <a:lnTo>
                  <a:pt x="0" y="228600"/>
                </a:lnTo>
                <a:lnTo>
                  <a:pt x="8552688" y="228600"/>
                </a:lnTo>
                <a:lnTo>
                  <a:pt x="8552688" y="0"/>
                </a:lnTo>
                <a:close/>
              </a:path>
            </a:pathLst>
          </a:custGeom>
          <a:solidFill>
            <a:srgbClr val="717BA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4622" y="344170"/>
            <a:ext cx="828357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464652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46303" y="1474444"/>
            <a:ext cx="7552055" cy="2727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7563739" y="6647789"/>
            <a:ext cx="138175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BEBEBE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97560" y="5002784"/>
            <a:ext cx="7525384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610" b="1">
                <a:solidFill>
                  <a:srgbClr val="DDE9EB"/>
                </a:solidFill>
                <a:latin typeface="Arial"/>
                <a:cs typeface="Arial"/>
              </a:rPr>
              <a:t>WELCOME</a:t>
            </a:r>
            <a:r>
              <a:rPr dirty="0" sz="4400" spc="-55" b="1">
                <a:solidFill>
                  <a:srgbClr val="DDE9EB"/>
                </a:solidFill>
                <a:latin typeface="Arial"/>
                <a:cs typeface="Arial"/>
              </a:rPr>
              <a:t> </a:t>
            </a:r>
            <a:r>
              <a:rPr dirty="0" sz="4400" spc="-409" b="1">
                <a:solidFill>
                  <a:srgbClr val="DDE9EB"/>
                </a:solidFill>
                <a:latin typeface="Arial"/>
                <a:cs typeface="Arial"/>
              </a:rPr>
              <a:t>TO</a:t>
            </a:r>
            <a:r>
              <a:rPr dirty="0" sz="4400" spc="-50" b="1">
                <a:solidFill>
                  <a:srgbClr val="DDE9EB"/>
                </a:solidFill>
                <a:latin typeface="Arial"/>
                <a:cs typeface="Arial"/>
              </a:rPr>
              <a:t> </a:t>
            </a:r>
            <a:r>
              <a:rPr dirty="0" sz="4400" spc="-490" b="1">
                <a:solidFill>
                  <a:srgbClr val="DDE9EB"/>
                </a:solidFill>
                <a:latin typeface="Arial"/>
                <a:cs typeface="Arial"/>
              </a:rPr>
              <a:t>BIOL/STAT</a:t>
            </a:r>
            <a:r>
              <a:rPr dirty="0" sz="4400" spc="-55" b="1">
                <a:solidFill>
                  <a:srgbClr val="DDE9EB"/>
                </a:solidFill>
                <a:latin typeface="Arial"/>
                <a:cs typeface="Arial"/>
              </a:rPr>
              <a:t> </a:t>
            </a:r>
            <a:r>
              <a:rPr dirty="0" sz="4400" spc="-40" b="1">
                <a:solidFill>
                  <a:srgbClr val="DDE9EB"/>
                </a:solidFill>
                <a:latin typeface="Arial"/>
                <a:cs typeface="Arial"/>
              </a:rPr>
              <a:t>2244A</a:t>
            </a:r>
            <a:endParaRPr sz="4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1920"/>
            <a:ext cx="9144000" cy="304647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702" y="344170"/>
            <a:ext cx="4182745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315" b="0">
                <a:latin typeface="Arial"/>
                <a:cs typeface="Arial"/>
              </a:rPr>
              <a:t>Welcome</a:t>
            </a:r>
            <a:r>
              <a:rPr dirty="0" sz="4400" spc="-40" b="0">
                <a:latin typeface="Arial"/>
                <a:cs typeface="Arial"/>
              </a:rPr>
              <a:t> </a:t>
            </a:r>
            <a:r>
              <a:rPr dirty="0" sz="4400" b="0">
                <a:latin typeface="Arial"/>
                <a:cs typeface="Arial"/>
              </a:rPr>
              <a:t>to</a:t>
            </a:r>
            <a:r>
              <a:rPr dirty="0" sz="4400" spc="-305" b="0">
                <a:latin typeface="Arial"/>
                <a:cs typeface="Arial"/>
              </a:rPr>
              <a:t> </a:t>
            </a:r>
            <a:r>
              <a:rPr dirty="0" sz="4400" spc="-40" b="0">
                <a:latin typeface="Arial"/>
                <a:cs typeface="Arial"/>
              </a:rPr>
              <a:t>2244!</a:t>
            </a:r>
            <a:endParaRPr sz="4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82041" y="1523212"/>
            <a:ext cx="4387215" cy="514858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3200" spc="-229" b="1">
                <a:latin typeface="Arial"/>
                <a:cs typeface="Arial"/>
              </a:rPr>
              <a:t>Jennifer</a:t>
            </a:r>
            <a:r>
              <a:rPr dirty="0" sz="3200" spc="5" b="1">
                <a:latin typeface="Arial"/>
                <a:cs typeface="Arial"/>
              </a:rPr>
              <a:t> </a:t>
            </a:r>
            <a:r>
              <a:rPr dirty="0" sz="3200" spc="-325" b="1">
                <a:latin typeface="Arial"/>
                <a:cs typeface="Arial"/>
              </a:rPr>
              <a:t>Peter</a:t>
            </a:r>
            <a:endParaRPr sz="32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9FB8CD"/>
              </a:buClr>
              <a:buSzPct val="59375"/>
              <a:buFont typeface="Wingdings"/>
              <a:buChar char=""/>
              <a:tabLst>
                <a:tab pos="332105" algn="l"/>
              </a:tabLst>
            </a:pPr>
            <a:r>
              <a:rPr dirty="0" sz="3200" spc="-365">
                <a:latin typeface="Arial"/>
                <a:cs typeface="Arial"/>
              </a:rPr>
              <a:t>Forums</a:t>
            </a:r>
            <a:r>
              <a:rPr dirty="0" sz="3200" spc="-5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or</a:t>
            </a:r>
            <a:r>
              <a:rPr dirty="0" sz="3200" spc="-145">
                <a:latin typeface="Arial"/>
                <a:cs typeface="Arial"/>
              </a:rPr>
              <a:t> </a:t>
            </a:r>
            <a:r>
              <a:rPr dirty="0" sz="3200" spc="-55">
                <a:latin typeface="Arial"/>
                <a:cs typeface="Arial"/>
              </a:rPr>
              <a:t>“in-</a:t>
            </a:r>
            <a:r>
              <a:rPr dirty="0" sz="3200" spc="-170">
                <a:latin typeface="Arial"/>
                <a:cs typeface="Arial"/>
              </a:rPr>
              <a:t>person”</a:t>
            </a:r>
            <a:r>
              <a:rPr dirty="0" sz="3200" spc="-50">
                <a:latin typeface="Arial"/>
                <a:cs typeface="Arial"/>
              </a:rPr>
              <a:t> </a:t>
            </a:r>
            <a:r>
              <a:rPr dirty="0" sz="3200" spc="-25">
                <a:latin typeface="Arial"/>
                <a:cs typeface="Arial"/>
              </a:rPr>
              <a:t>for</a:t>
            </a:r>
            <a:endParaRPr sz="3200">
              <a:latin typeface="Arial"/>
              <a:cs typeface="Arial"/>
            </a:endParaRPr>
          </a:p>
          <a:p>
            <a:pPr marL="332740">
              <a:lnSpc>
                <a:spcPct val="100000"/>
              </a:lnSpc>
            </a:pPr>
            <a:r>
              <a:rPr dirty="0" sz="3200" spc="-10">
                <a:latin typeface="Arial"/>
                <a:cs typeface="Arial"/>
              </a:rPr>
              <a:t>pretty</a:t>
            </a:r>
            <a:r>
              <a:rPr dirty="0" sz="3200" spc="-195">
                <a:latin typeface="Arial"/>
                <a:cs typeface="Arial"/>
              </a:rPr>
              <a:t> </a:t>
            </a:r>
            <a:r>
              <a:rPr dirty="0" sz="3200" spc="-370">
                <a:latin typeface="Arial"/>
                <a:cs typeface="Arial"/>
              </a:rPr>
              <a:t>much</a:t>
            </a:r>
            <a:r>
              <a:rPr dirty="0" sz="3200" spc="-5">
                <a:latin typeface="Arial"/>
                <a:cs typeface="Arial"/>
              </a:rPr>
              <a:t> </a:t>
            </a:r>
            <a:r>
              <a:rPr dirty="0" sz="3200" spc="-45">
                <a:latin typeface="Arial"/>
                <a:cs typeface="Arial"/>
              </a:rPr>
              <a:t>everything</a:t>
            </a:r>
            <a:endParaRPr sz="3200">
              <a:latin typeface="Arial"/>
              <a:cs typeface="Arial"/>
            </a:endParaRPr>
          </a:p>
          <a:p>
            <a:pPr marL="332740" marR="121920" indent="-320040">
              <a:lnSpc>
                <a:spcPct val="100000"/>
              </a:lnSpc>
              <a:spcBef>
                <a:spcPts val="700"/>
              </a:spcBef>
              <a:buClr>
                <a:srgbClr val="9FB8CD"/>
              </a:buClr>
              <a:buSzPct val="59375"/>
              <a:buFont typeface="Wingdings"/>
              <a:buChar char=""/>
              <a:tabLst>
                <a:tab pos="332740" algn="l"/>
              </a:tabLst>
            </a:pPr>
            <a:r>
              <a:rPr dirty="0" sz="3200" spc="-420" b="1">
                <a:latin typeface="Arial"/>
                <a:cs typeface="Arial"/>
              </a:rPr>
              <a:t>OWL</a:t>
            </a:r>
            <a:r>
              <a:rPr dirty="0" sz="3200" spc="-35" b="1">
                <a:latin typeface="Arial"/>
                <a:cs typeface="Arial"/>
              </a:rPr>
              <a:t> </a:t>
            </a:r>
            <a:r>
              <a:rPr dirty="0" sz="3200" spc="-280" b="1">
                <a:latin typeface="Arial"/>
                <a:cs typeface="Arial"/>
              </a:rPr>
              <a:t>Messages</a:t>
            </a:r>
            <a:r>
              <a:rPr dirty="0" sz="3200" spc="-5" b="1">
                <a:latin typeface="Arial"/>
                <a:cs typeface="Arial"/>
              </a:rPr>
              <a:t> </a:t>
            </a:r>
            <a:r>
              <a:rPr dirty="0" sz="3200" spc="-25">
                <a:latin typeface="Arial"/>
                <a:cs typeface="Arial"/>
              </a:rPr>
              <a:t>for </a:t>
            </a:r>
            <a:r>
              <a:rPr dirty="0" sz="3200" spc="-250">
                <a:latin typeface="Arial"/>
                <a:cs typeface="Arial"/>
              </a:rPr>
              <a:t>accommodations</a:t>
            </a:r>
            <a:r>
              <a:rPr dirty="0" sz="3200" spc="45">
                <a:latin typeface="Arial"/>
                <a:cs typeface="Arial"/>
              </a:rPr>
              <a:t> </a:t>
            </a:r>
            <a:r>
              <a:rPr dirty="0" sz="3200" spc="-25">
                <a:latin typeface="Arial"/>
                <a:cs typeface="Arial"/>
              </a:rPr>
              <a:t>and </a:t>
            </a:r>
            <a:r>
              <a:rPr dirty="0" sz="3200" spc="-190">
                <a:latin typeface="Arial"/>
                <a:cs typeface="Arial"/>
              </a:rPr>
              <a:t>academic</a:t>
            </a:r>
            <a:r>
              <a:rPr dirty="0" sz="3200" spc="-10">
                <a:latin typeface="Arial"/>
                <a:cs typeface="Arial"/>
              </a:rPr>
              <a:t> </a:t>
            </a:r>
            <a:r>
              <a:rPr dirty="0" sz="3200" spc="-204">
                <a:latin typeface="Arial"/>
                <a:cs typeface="Arial"/>
              </a:rPr>
              <a:t>considerations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200">
              <a:latin typeface="Arial"/>
              <a:cs typeface="Arial"/>
            </a:endParaRPr>
          </a:p>
          <a:p>
            <a:pPr marL="12700" marR="150495">
              <a:lnSpc>
                <a:spcPct val="100000"/>
              </a:lnSpc>
            </a:pPr>
            <a:r>
              <a:rPr dirty="0" sz="3200" spc="-254">
                <a:latin typeface="Arial"/>
                <a:cs typeface="Arial"/>
              </a:rPr>
              <a:t>Please</a:t>
            </a:r>
            <a:r>
              <a:rPr dirty="0" sz="3200" spc="-5">
                <a:latin typeface="Arial"/>
                <a:cs typeface="Arial"/>
              </a:rPr>
              <a:t> </a:t>
            </a:r>
            <a:r>
              <a:rPr dirty="0" sz="3200" spc="-200">
                <a:latin typeface="Arial"/>
                <a:cs typeface="Arial"/>
              </a:rPr>
              <a:t>complete</a:t>
            </a:r>
            <a:r>
              <a:rPr dirty="0" sz="3200" spc="-15">
                <a:latin typeface="Arial"/>
                <a:cs typeface="Arial"/>
              </a:rPr>
              <a:t> </a:t>
            </a:r>
            <a:r>
              <a:rPr dirty="0" sz="3200" spc="-180">
                <a:latin typeface="Arial"/>
                <a:cs typeface="Arial"/>
              </a:rPr>
              <a:t>the</a:t>
            </a:r>
            <a:r>
              <a:rPr dirty="0" sz="3200" spc="25">
                <a:latin typeface="Arial"/>
                <a:cs typeface="Arial"/>
              </a:rPr>
              <a:t> </a:t>
            </a:r>
            <a:r>
              <a:rPr dirty="0" sz="3200" spc="-110">
                <a:latin typeface="Arial"/>
                <a:cs typeface="Arial"/>
              </a:rPr>
              <a:t>OWL </a:t>
            </a:r>
            <a:r>
              <a:rPr dirty="0" sz="3200" spc="-295">
                <a:latin typeface="Arial"/>
                <a:cs typeface="Arial"/>
              </a:rPr>
              <a:t>Polls</a:t>
            </a:r>
            <a:r>
              <a:rPr dirty="0" sz="3200" spc="-40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to</a:t>
            </a:r>
            <a:r>
              <a:rPr dirty="0" sz="3200" spc="-155">
                <a:latin typeface="Arial"/>
                <a:cs typeface="Arial"/>
              </a:rPr>
              <a:t> </a:t>
            </a:r>
            <a:r>
              <a:rPr dirty="0" sz="3200" spc="-165">
                <a:latin typeface="Arial"/>
                <a:cs typeface="Arial"/>
              </a:rPr>
              <a:t>determine</a:t>
            </a:r>
            <a:r>
              <a:rPr dirty="0" sz="3200" spc="-55">
                <a:latin typeface="Arial"/>
                <a:cs typeface="Arial"/>
              </a:rPr>
              <a:t> </a:t>
            </a:r>
            <a:r>
              <a:rPr dirty="0" sz="3200" spc="-20">
                <a:latin typeface="Arial"/>
                <a:cs typeface="Arial"/>
              </a:rPr>
              <a:t>best </a:t>
            </a:r>
            <a:r>
              <a:rPr dirty="0" sz="3200" spc="-245">
                <a:latin typeface="Arial"/>
                <a:cs typeface="Arial"/>
              </a:rPr>
              <a:t>time(s)</a:t>
            </a:r>
            <a:r>
              <a:rPr dirty="0" sz="3200" spc="-35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for</a:t>
            </a:r>
            <a:r>
              <a:rPr dirty="0" sz="3200" spc="-60">
                <a:latin typeface="Arial"/>
                <a:cs typeface="Arial"/>
              </a:rPr>
              <a:t> </a:t>
            </a:r>
            <a:r>
              <a:rPr dirty="0" sz="3200" spc="-130">
                <a:latin typeface="Arial"/>
                <a:cs typeface="Arial"/>
              </a:rPr>
              <a:t>help</a:t>
            </a:r>
            <a:r>
              <a:rPr dirty="0" sz="3200" spc="-50">
                <a:latin typeface="Arial"/>
                <a:cs typeface="Arial"/>
              </a:rPr>
              <a:t> </a:t>
            </a:r>
            <a:r>
              <a:rPr dirty="0" sz="3200" spc="-375">
                <a:latin typeface="Arial"/>
                <a:cs typeface="Arial"/>
              </a:rPr>
              <a:t>sessions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 descr="A diagram of a diagram  Description automatically generated with medium confidence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0" y="2033016"/>
            <a:ext cx="4523232" cy="39014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420"/>
              <a:t>Schedule</a:t>
            </a:r>
            <a:r>
              <a:rPr dirty="0" sz="4400" spc="-55"/>
              <a:t> </a:t>
            </a:r>
            <a:r>
              <a:rPr dirty="0" sz="4400"/>
              <a:t>of</a:t>
            </a:r>
            <a:r>
              <a:rPr dirty="0" sz="4400" spc="-140"/>
              <a:t> </a:t>
            </a:r>
            <a:r>
              <a:rPr dirty="0" sz="4400" spc="-310"/>
              <a:t>‘events’</a:t>
            </a:r>
            <a:r>
              <a:rPr dirty="0" sz="4400" spc="-75"/>
              <a:t> </a:t>
            </a:r>
            <a:r>
              <a:rPr dirty="0" sz="4400" spc="-280"/>
              <a:t>(syllabus,</a:t>
            </a:r>
            <a:r>
              <a:rPr dirty="0" sz="4400" spc="-70"/>
              <a:t> </a:t>
            </a:r>
            <a:r>
              <a:rPr dirty="0" sz="4400" spc="-260"/>
              <a:t>p.</a:t>
            </a:r>
            <a:r>
              <a:rPr dirty="0" sz="4400" spc="-50"/>
              <a:t> </a:t>
            </a:r>
            <a:r>
              <a:rPr dirty="0" sz="4400" spc="-25"/>
              <a:t>5)</a:t>
            </a:r>
            <a:endParaRPr sz="4400"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6662" y="1583706"/>
            <a:ext cx="5461429" cy="526048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5741289" y="1614042"/>
            <a:ext cx="3132455" cy="44716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740" marR="375920" indent="-320675">
              <a:lnSpc>
                <a:spcPct val="100000"/>
              </a:lnSpc>
              <a:spcBef>
                <a:spcPts val="95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332740" algn="l"/>
              </a:tabLst>
            </a:pPr>
            <a:r>
              <a:rPr dirty="0" sz="2800">
                <a:latin typeface="Arial"/>
                <a:cs typeface="Arial"/>
              </a:rPr>
              <a:t>all</a:t>
            </a:r>
            <a:r>
              <a:rPr dirty="0" sz="2800" spc="-85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‘work’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 spc="-195">
                <a:latin typeface="Arial"/>
                <a:cs typeface="Arial"/>
              </a:rPr>
              <a:t>due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by 11:55</a:t>
            </a:r>
            <a:r>
              <a:rPr dirty="0" sz="2800" spc="-150">
                <a:latin typeface="Arial"/>
                <a:cs typeface="Arial"/>
              </a:rPr>
              <a:t> </a:t>
            </a:r>
            <a:r>
              <a:rPr dirty="0" sz="2800" spc="-260">
                <a:latin typeface="Arial"/>
                <a:cs typeface="Arial"/>
              </a:rPr>
              <a:t>pm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540">
                <a:latin typeface="Arial"/>
                <a:cs typeface="Arial"/>
              </a:rPr>
              <a:t>EST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280">
                <a:latin typeface="Arial"/>
                <a:cs typeface="Arial"/>
              </a:rPr>
              <a:t>on </a:t>
            </a:r>
            <a:r>
              <a:rPr dirty="0" sz="2800" spc="-165">
                <a:latin typeface="Arial"/>
                <a:cs typeface="Arial"/>
              </a:rPr>
              <a:t>Fridays</a:t>
            </a:r>
            <a:r>
              <a:rPr dirty="0" sz="2800" spc="15">
                <a:latin typeface="Arial"/>
                <a:cs typeface="Arial"/>
              </a:rPr>
              <a:t> </a:t>
            </a:r>
            <a:r>
              <a:rPr dirty="0" sz="2800" spc="210">
                <a:latin typeface="Arial"/>
                <a:cs typeface="Arial"/>
              </a:rPr>
              <a:t>+</a:t>
            </a:r>
            <a:r>
              <a:rPr dirty="0" sz="2800" spc="20">
                <a:latin typeface="Arial"/>
                <a:cs typeface="Arial"/>
              </a:rPr>
              <a:t> </a:t>
            </a:r>
            <a:r>
              <a:rPr dirty="0" sz="2800" spc="-30">
                <a:latin typeface="Arial"/>
                <a:cs typeface="Arial"/>
              </a:rPr>
              <a:t>48-</a:t>
            </a:r>
            <a:r>
              <a:rPr dirty="0" sz="2800" spc="-395">
                <a:latin typeface="Arial"/>
                <a:cs typeface="Arial"/>
              </a:rPr>
              <a:t>h </a:t>
            </a:r>
            <a:r>
              <a:rPr dirty="0" sz="2800" spc="-105">
                <a:latin typeface="Arial"/>
                <a:cs typeface="Arial"/>
              </a:rPr>
              <a:t>grace</a:t>
            </a:r>
            <a:r>
              <a:rPr dirty="0" sz="2800" spc="-8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period</a:t>
            </a:r>
            <a:endParaRPr sz="2800">
              <a:latin typeface="Arial"/>
              <a:cs typeface="Arial"/>
            </a:endParaRPr>
          </a:p>
          <a:p>
            <a:pPr marL="332740" marR="314960" indent="-320675">
              <a:lnSpc>
                <a:spcPct val="100000"/>
              </a:lnSpc>
              <a:spcBef>
                <a:spcPts val="700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332740" algn="l"/>
              </a:tabLst>
            </a:pPr>
            <a:r>
              <a:rPr dirty="0" sz="2800" spc="-195">
                <a:latin typeface="Arial"/>
                <a:cs typeface="Arial"/>
              </a:rPr>
              <a:t>make-</a:t>
            </a:r>
            <a:r>
              <a:rPr dirty="0" sz="2800" spc="-185">
                <a:latin typeface="Arial"/>
                <a:cs typeface="Arial"/>
              </a:rPr>
              <a:t>up</a:t>
            </a:r>
            <a:r>
              <a:rPr dirty="0" sz="2800" spc="35">
                <a:latin typeface="Arial"/>
                <a:cs typeface="Arial"/>
              </a:rPr>
              <a:t> </a:t>
            </a:r>
            <a:r>
              <a:rPr dirty="0" sz="2800" spc="-160">
                <a:latin typeface="Arial"/>
                <a:cs typeface="Arial"/>
              </a:rPr>
              <a:t>midterm </a:t>
            </a:r>
            <a:r>
              <a:rPr dirty="0" sz="2800" spc="-10">
                <a:latin typeface="Arial"/>
                <a:cs typeface="Arial"/>
              </a:rPr>
              <a:t>date</a:t>
            </a:r>
            <a:r>
              <a:rPr dirty="0" sz="2800" spc="-165">
                <a:latin typeface="Arial"/>
                <a:cs typeface="Arial"/>
              </a:rPr>
              <a:t> </a:t>
            </a:r>
            <a:r>
              <a:rPr dirty="0" sz="2800" spc="-250">
                <a:latin typeface="Arial"/>
                <a:cs typeface="Arial"/>
              </a:rPr>
              <a:t>is</a:t>
            </a:r>
            <a:r>
              <a:rPr dirty="0" sz="2800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confirmed</a:t>
            </a:r>
            <a:endParaRPr sz="2800">
              <a:latin typeface="Arial"/>
              <a:cs typeface="Arial"/>
            </a:endParaRPr>
          </a:p>
          <a:p>
            <a:pPr marL="332740" marR="5080" indent="-320675">
              <a:lnSpc>
                <a:spcPct val="100000"/>
              </a:lnSpc>
              <a:spcBef>
                <a:spcPts val="710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332740" algn="l"/>
              </a:tabLst>
            </a:pPr>
            <a:r>
              <a:rPr dirty="0" sz="2800" spc="-185">
                <a:latin typeface="Arial"/>
                <a:cs typeface="Arial"/>
              </a:rPr>
              <a:t>Final</a:t>
            </a:r>
            <a:r>
              <a:rPr dirty="0" sz="2800" spc="-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exam </a:t>
            </a:r>
            <a:r>
              <a:rPr dirty="0" sz="2800" spc="-95">
                <a:latin typeface="Arial"/>
                <a:cs typeface="Arial"/>
              </a:rPr>
              <a:t>timetable</a:t>
            </a:r>
            <a:r>
              <a:rPr dirty="0" sz="2800">
                <a:latin typeface="Arial"/>
                <a:cs typeface="Arial"/>
              </a:rPr>
              <a:t> </a:t>
            </a:r>
            <a:r>
              <a:rPr dirty="0" sz="2800" spc="-235">
                <a:latin typeface="Arial"/>
                <a:cs typeface="Arial"/>
              </a:rPr>
              <a:t>should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90">
                <a:latin typeface="Arial"/>
                <a:cs typeface="Arial"/>
              </a:rPr>
              <a:t>be </a:t>
            </a:r>
            <a:r>
              <a:rPr dirty="0" sz="2800" spc="-130">
                <a:latin typeface="Arial"/>
                <a:cs typeface="Arial"/>
              </a:rPr>
              <a:t>released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 spc="-270">
                <a:latin typeface="Arial"/>
                <a:cs typeface="Arial"/>
              </a:rPr>
              <a:t>on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 spc="-20">
                <a:latin typeface="Arial"/>
                <a:cs typeface="Arial"/>
              </a:rPr>
              <a:t>Oct. </a:t>
            </a:r>
            <a:r>
              <a:rPr dirty="0" sz="2800" spc="-25">
                <a:latin typeface="Arial"/>
                <a:cs typeface="Arial"/>
              </a:rPr>
              <a:t>10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63702" y="344170"/>
            <a:ext cx="381381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229" b="0">
                <a:latin typeface="Arial"/>
                <a:cs typeface="Arial"/>
              </a:rPr>
              <a:t>About</a:t>
            </a:r>
            <a:r>
              <a:rPr dirty="0" sz="4400" spc="-30" b="0">
                <a:latin typeface="Arial"/>
                <a:cs typeface="Arial"/>
              </a:rPr>
              <a:t> </a:t>
            </a:r>
            <a:r>
              <a:rPr dirty="0" sz="4400" spc="-290" b="0">
                <a:latin typeface="Arial"/>
                <a:cs typeface="Arial"/>
              </a:rPr>
              <a:t>the</a:t>
            </a:r>
            <a:r>
              <a:rPr dirty="0" sz="4400" spc="-25" b="0">
                <a:latin typeface="Arial"/>
                <a:cs typeface="Arial"/>
              </a:rPr>
              <a:t> </a:t>
            </a:r>
            <a:r>
              <a:rPr dirty="0" sz="4400" spc="-130" b="0">
                <a:latin typeface="Arial"/>
                <a:cs typeface="Arial"/>
              </a:rPr>
              <a:t>labs…</a:t>
            </a:r>
            <a:endParaRPr sz="44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2041" y="1610995"/>
            <a:ext cx="8518525" cy="425640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32740" marR="5080" indent="-320040">
              <a:lnSpc>
                <a:spcPct val="100000"/>
              </a:lnSpc>
              <a:spcBef>
                <a:spcPts val="105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332740" algn="l"/>
              </a:tabLst>
            </a:pPr>
            <a:r>
              <a:rPr dirty="0" sz="3200" spc="-155">
                <a:latin typeface="Arial"/>
                <a:cs typeface="Arial"/>
              </a:rPr>
              <a:t>‘online’</a:t>
            </a:r>
            <a:r>
              <a:rPr dirty="0" sz="3200" spc="-70">
                <a:latin typeface="Arial"/>
                <a:cs typeface="Arial"/>
              </a:rPr>
              <a:t> </a:t>
            </a:r>
            <a:r>
              <a:rPr dirty="0" sz="3200" spc="-110">
                <a:latin typeface="Arial"/>
                <a:cs typeface="Arial"/>
              </a:rPr>
              <a:t>and</a:t>
            </a:r>
            <a:r>
              <a:rPr dirty="0" sz="3200" spc="-45">
                <a:latin typeface="Arial"/>
                <a:cs typeface="Arial"/>
              </a:rPr>
              <a:t> </a:t>
            </a:r>
            <a:r>
              <a:rPr dirty="0" sz="3200" spc="-140">
                <a:latin typeface="Arial"/>
                <a:cs typeface="Arial"/>
              </a:rPr>
              <a:t>roughly</a:t>
            </a:r>
            <a:r>
              <a:rPr dirty="0" sz="3200" spc="-50">
                <a:latin typeface="Arial"/>
                <a:cs typeface="Arial"/>
              </a:rPr>
              <a:t> </a:t>
            </a:r>
            <a:r>
              <a:rPr dirty="0" sz="3200" spc="-114">
                <a:latin typeface="Arial"/>
                <a:cs typeface="Arial"/>
              </a:rPr>
              <a:t>weekly;</a:t>
            </a:r>
            <a:r>
              <a:rPr dirty="0" sz="3200" spc="-60">
                <a:latin typeface="Arial"/>
                <a:cs typeface="Arial"/>
              </a:rPr>
              <a:t> </a:t>
            </a:r>
            <a:r>
              <a:rPr dirty="0" sz="3200" spc="-200">
                <a:latin typeface="Arial"/>
                <a:cs typeface="Arial"/>
              </a:rPr>
              <a:t>complete</a:t>
            </a:r>
            <a:r>
              <a:rPr dirty="0" sz="3200" spc="-40">
                <a:latin typeface="Arial"/>
                <a:cs typeface="Arial"/>
              </a:rPr>
              <a:t> </a:t>
            </a:r>
            <a:r>
              <a:rPr dirty="0" sz="3200" spc="-285">
                <a:latin typeface="Arial"/>
                <a:cs typeface="Arial"/>
              </a:rPr>
              <a:t>on</a:t>
            </a:r>
            <a:r>
              <a:rPr dirty="0" sz="3200" spc="-5">
                <a:latin typeface="Arial"/>
                <a:cs typeface="Arial"/>
              </a:rPr>
              <a:t> </a:t>
            </a:r>
            <a:r>
              <a:rPr dirty="0" sz="3200" spc="-155">
                <a:latin typeface="Arial"/>
                <a:cs typeface="Arial"/>
              </a:rPr>
              <a:t>your</a:t>
            </a:r>
            <a:r>
              <a:rPr dirty="0" sz="3200" spc="-40">
                <a:latin typeface="Arial"/>
                <a:cs typeface="Arial"/>
              </a:rPr>
              <a:t> </a:t>
            </a:r>
            <a:r>
              <a:rPr dirty="0" sz="3200" spc="-305">
                <a:latin typeface="Arial"/>
                <a:cs typeface="Arial"/>
              </a:rPr>
              <a:t>own </a:t>
            </a:r>
            <a:r>
              <a:rPr dirty="0" sz="3200" spc="-20">
                <a:latin typeface="Arial"/>
                <a:cs typeface="Arial"/>
              </a:rPr>
              <a:t>time</a:t>
            </a:r>
            <a:endParaRPr sz="3200">
              <a:latin typeface="Arial"/>
              <a:cs typeface="Arial"/>
            </a:endParaRPr>
          </a:p>
          <a:p>
            <a:pPr lvl="1" marL="652145" indent="-273685">
              <a:lnSpc>
                <a:spcPct val="100000"/>
              </a:lnSpc>
              <a:spcBef>
                <a:spcPts val="610"/>
              </a:spcBef>
              <a:buClr>
                <a:srgbClr val="717BA2"/>
              </a:buClr>
              <a:buSzPct val="68965"/>
              <a:buFont typeface="Wingdings"/>
              <a:buChar char=""/>
              <a:tabLst>
                <a:tab pos="652145" algn="l"/>
              </a:tabLst>
            </a:pPr>
            <a:r>
              <a:rPr dirty="0" sz="2900" spc="-120">
                <a:latin typeface="Arial"/>
                <a:cs typeface="Arial"/>
              </a:rPr>
              <a:t>weekly</a:t>
            </a:r>
            <a:r>
              <a:rPr dirty="0" sz="2900" spc="-45">
                <a:latin typeface="Arial"/>
                <a:cs typeface="Arial"/>
              </a:rPr>
              <a:t> </a:t>
            </a:r>
            <a:r>
              <a:rPr dirty="0" sz="2900" spc="-65">
                <a:latin typeface="Arial"/>
                <a:cs typeface="Arial"/>
              </a:rPr>
              <a:t>drop-</a:t>
            </a:r>
            <a:r>
              <a:rPr dirty="0" sz="2900" spc="-185">
                <a:latin typeface="Arial"/>
                <a:cs typeface="Arial"/>
              </a:rPr>
              <a:t>in</a:t>
            </a:r>
            <a:r>
              <a:rPr dirty="0" sz="2900" spc="-40">
                <a:latin typeface="Arial"/>
                <a:cs typeface="Arial"/>
              </a:rPr>
              <a:t> </a:t>
            </a:r>
            <a:r>
              <a:rPr dirty="0" sz="2900" spc="-265">
                <a:latin typeface="Arial"/>
                <a:cs typeface="Arial"/>
              </a:rPr>
              <a:t>“R</a:t>
            </a:r>
            <a:r>
              <a:rPr dirty="0" sz="2900" spc="-5">
                <a:latin typeface="Arial"/>
                <a:cs typeface="Arial"/>
              </a:rPr>
              <a:t> </a:t>
            </a:r>
            <a:r>
              <a:rPr dirty="0" sz="2900" spc="-130">
                <a:latin typeface="Arial"/>
                <a:cs typeface="Arial"/>
              </a:rPr>
              <a:t>help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 spc="-280">
                <a:latin typeface="Arial"/>
                <a:cs typeface="Arial"/>
              </a:rPr>
              <a:t>sessions”</a:t>
            </a:r>
            <a:r>
              <a:rPr dirty="0" sz="2900" spc="-55">
                <a:latin typeface="Arial"/>
                <a:cs typeface="Arial"/>
              </a:rPr>
              <a:t> </a:t>
            </a:r>
            <a:r>
              <a:rPr dirty="0" sz="2900" spc="-125">
                <a:latin typeface="Arial"/>
                <a:cs typeface="Arial"/>
              </a:rPr>
              <a:t>with</a:t>
            </a:r>
            <a:r>
              <a:rPr dirty="0" sz="2900" spc="-15">
                <a:latin typeface="Arial"/>
                <a:cs typeface="Arial"/>
              </a:rPr>
              <a:t> </a:t>
            </a:r>
            <a:r>
              <a:rPr dirty="0" sz="2900" spc="-445">
                <a:latin typeface="Arial"/>
                <a:cs typeface="Arial"/>
              </a:rPr>
              <a:t>TAs</a:t>
            </a:r>
            <a:endParaRPr sz="2900">
              <a:latin typeface="Arial"/>
              <a:cs typeface="Arial"/>
            </a:endParaRPr>
          </a:p>
          <a:p>
            <a:pPr lvl="1" marL="652145" indent="-273685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68965"/>
              <a:buFont typeface="Wingdings"/>
              <a:buChar char=""/>
              <a:tabLst>
                <a:tab pos="652145" algn="l"/>
              </a:tabLst>
            </a:pPr>
            <a:r>
              <a:rPr dirty="0" sz="2900" spc="-235">
                <a:latin typeface="Arial"/>
                <a:cs typeface="Arial"/>
              </a:rPr>
              <a:t>questions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to</a:t>
            </a:r>
            <a:r>
              <a:rPr dirty="0" sz="2900" spc="-200">
                <a:latin typeface="Arial"/>
                <a:cs typeface="Arial"/>
              </a:rPr>
              <a:t> </a:t>
            </a:r>
            <a:r>
              <a:rPr dirty="0" sz="2900" spc="-165">
                <a:latin typeface="Arial"/>
                <a:cs typeface="Arial"/>
              </a:rPr>
              <a:t>the</a:t>
            </a:r>
            <a:r>
              <a:rPr dirty="0" sz="2900" spc="-35">
                <a:latin typeface="Arial"/>
                <a:cs typeface="Arial"/>
              </a:rPr>
              <a:t> </a:t>
            </a:r>
            <a:r>
              <a:rPr dirty="0" sz="2900" spc="-330">
                <a:latin typeface="Arial"/>
                <a:cs typeface="Arial"/>
              </a:rPr>
              <a:t>Forums</a:t>
            </a:r>
            <a:r>
              <a:rPr dirty="0" sz="2900" spc="-2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or</a:t>
            </a:r>
            <a:r>
              <a:rPr dirty="0" sz="2900" spc="-160">
                <a:latin typeface="Arial"/>
                <a:cs typeface="Arial"/>
              </a:rPr>
              <a:t> </a:t>
            </a:r>
            <a:r>
              <a:rPr dirty="0" sz="2900" spc="-20">
                <a:latin typeface="Arial"/>
                <a:cs typeface="Arial"/>
              </a:rPr>
              <a:t>talk</a:t>
            </a:r>
            <a:r>
              <a:rPr dirty="0" sz="2900" spc="-85">
                <a:latin typeface="Arial"/>
                <a:cs typeface="Arial"/>
              </a:rPr>
              <a:t> </a:t>
            </a:r>
            <a:r>
              <a:rPr dirty="0" sz="2900" spc="-130">
                <a:latin typeface="Arial"/>
                <a:cs typeface="Arial"/>
              </a:rPr>
              <a:t>with</a:t>
            </a:r>
            <a:r>
              <a:rPr dirty="0" sz="2900" spc="-70">
                <a:latin typeface="Arial"/>
                <a:cs typeface="Arial"/>
              </a:rPr>
              <a:t> </a:t>
            </a:r>
            <a:r>
              <a:rPr dirty="0" sz="2900" spc="-350">
                <a:latin typeface="Arial"/>
                <a:cs typeface="Arial"/>
              </a:rPr>
              <a:t>me</a:t>
            </a:r>
            <a:endParaRPr sz="29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685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332105" algn="l"/>
              </a:tabLst>
            </a:pPr>
            <a:r>
              <a:rPr dirty="0" sz="3200" spc="-285">
                <a:latin typeface="Arial"/>
                <a:cs typeface="Arial"/>
              </a:rPr>
              <a:t>no</a:t>
            </a:r>
            <a:r>
              <a:rPr dirty="0" sz="3200" spc="-5">
                <a:latin typeface="Arial"/>
                <a:cs typeface="Arial"/>
              </a:rPr>
              <a:t> </a:t>
            </a:r>
            <a:r>
              <a:rPr dirty="0" sz="3200" spc="-130">
                <a:latin typeface="Arial"/>
                <a:cs typeface="Arial"/>
              </a:rPr>
              <a:t>grades</a:t>
            </a:r>
            <a:r>
              <a:rPr dirty="0" sz="3200" spc="-95">
                <a:latin typeface="Arial"/>
                <a:cs typeface="Arial"/>
              </a:rPr>
              <a:t> </a:t>
            </a:r>
            <a:r>
              <a:rPr dirty="0" sz="3200" spc="-190">
                <a:latin typeface="Arial"/>
                <a:cs typeface="Arial"/>
              </a:rPr>
              <a:t>associated</a:t>
            </a:r>
            <a:r>
              <a:rPr dirty="0" sz="3200" spc="-45">
                <a:latin typeface="Arial"/>
                <a:cs typeface="Arial"/>
              </a:rPr>
              <a:t> </a:t>
            </a:r>
            <a:r>
              <a:rPr dirty="0" sz="3200" spc="-145">
                <a:latin typeface="Arial"/>
                <a:cs typeface="Arial"/>
              </a:rPr>
              <a:t>with</a:t>
            </a:r>
            <a:r>
              <a:rPr dirty="0" sz="3200" spc="-75">
                <a:latin typeface="Arial"/>
                <a:cs typeface="Arial"/>
              </a:rPr>
              <a:t> </a:t>
            </a:r>
            <a:r>
              <a:rPr dirty="0" sz="3200" spc="-20">
                <a:latin typeface="Arial"/>
                <a:cs typeface="Arial"/>
              </a:rPr>
              <a:t>“doing”</a:t>
            </a:r>
            <a:r>
              <a:rPr dirty="0" sz="3200" spc="-75">
                <a:latin typeface="Arial"/>
                <a:cs typeface="Arial"/>
              </a:rPr>
              <a:t> </a:t>
            </a:r>
            <a:r>
              <a:rPr dirty="0" sz="3200" spc="-190">
                <a:latin typeface="Arial"/>
                <a:cs typeface="Arial"/>
              </a:rPr>
              <a:t>the</a:t>
            </a:r>
            <a:r>
              <a:rPr dirty="0" sz="3200" spc="-30">
                <a:latin typeface="Arial"/>
                <a:cs typeface="Arial"/>
              </a:rPr>
              <a:t> </a:t>
            </a:r>
            <a:r>
              <a:rPr dirty="0" sz="3200" spc="-25">
                <a:latin typeface="Arial"/>
                <a:cs typeface="Arial"/>
              </a:rPr>
              <a:t>lab</a:t>
            </a:r>
            <a:endParaRPr sz="32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700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332105" algn="l"/>
              </a:tabLst>
            </a:pPr>
            <a:r>
              <a:rPr dirty="0" sz="3200" spc="-65">
                <a:latin typeface="Arial"/>
                <a:cs typeface="Arial"/>
              </a:rPr>
              <a:t>grading</a:t>
            </a:r>
            <a:r>
              <a:rPr dirty="0" sz="3200" spc="-120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of</a:t>
            </a:r>
            <a:r>
              <a:rPr dirty="0" sz="3200" spc="60">
                <a:latin typeface="Arial"/>
                <a:cs typeface="Arial"/>
              </a:rPr>
              <a:t> </a:t>
            </a:r>
            <a:r>
              <a:rPr dirty="0" sz="3200">
                <a:latin typeface="Arial"/>
                <a:cs typeface="Arial"/>
              </a:rPr>
              <a:t>lab</a:t>
            </a:r>
            <a:r>
              <a:rPr dirty="0" sz="3200" spc="-45">
                <a:latin typeface="Arial"/>
                <a:cs typeface="Arial"/>
              </a:rPr>
              <a:t> </a:t>
            </a:r>
            <a:r>
              <a:rPr dirty="0" sz="3200" spc="-180">
                <a:latin typeface="Arial"/>
                <a:cs typeface="Arial"/>
              </a:rPr>
              <a:t>‘skills’</a:t>
            </a:r>
            <a:r>
              <a:rPr dirty="0" sz="3200" spc="-45">
                <a:latin typeface="Arial"/>
                <a:cs typeface="Arial"/>
              </a:rPr>
              <a:t> </a:t>
            </a:r>
            <a:r>
              <a:rPr dirty="0" sz="3200" spc="-25">
                <a:latin typeface="Arial"/>
                <a:cs typeface="Arial"/>
              </a:rPr>
              <a:t>via</a:t>
            </a:r>
            <a:r>
              <a:rPr dirty="0" sz="3200" spc="-55">
                <a:latin typeface="Arial"/>
                <a:cs typeface="Arial"/>
              </a:rPr>
              <a:t> </a:t>
            </a:r>
            <a:r>
              <a:rPr dirty="0" sz="3200" spc="-180">
                <a:latin typeface="Arial"/>
                <a:cs typeface="Arial"/>
              </a:rPr>
              <a:t>Activities,</a:t>
            </a:r>
            <a:r>
              <a:rPr dirty="0" sz="3200" spc="-45">
                <a:latin typeface="Arial"/>
                <a:cs typeface="Arial"/>
              </a:rPr>
              <a:t> </a:t>
            </a:r>
            <a:r>
              <a:rPr dirty="0" sz="3200" spc="-305">
                <a:latin typeface="Arial"/>
                <a:cs typeface="Arial"/>
              </a:rPr>
              <a:t>Assignments,</a:t>
            </a:r>
            <a:endParaRPr sz="3200">
              <a:latin typeface="Arial"/>
              <a:cs typeface="Arial"/>
            </a:endParaRPr>
          </a:p>
          <a:p>
            <a:pPr marL="332740">
              <a:lnSpc>
                <a:spcPct val="100000"/>
              </a:lnSpc>
            </a:pPr>
            <a:r>
              <a:rPr dirty="0" sz="3200" spc="-385">
                <a:latin typeface="Arial"/>
                <a:cs typeface="Arial"/>
              </a:rPr>
              <a:t>Exams</a:t>
            </a:r>
            <a:endParaRPr sz="32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710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332105" algn="l"/>
              </a:tabLst>
            </a:pPr>
            <a:r>
              <a:rPr dirty="0" sz="3200" spc="-125">
                <a:latin typeface="Arial"/>
                <a:cs typeface="Arial"/>
              </a:rPr>
              <a:t>don’t</a:t>
            </a:r>
            <a:r>
              <a:rPr dirty="0" sz="3200" spc="-100">
                <a:latin typeface="Arial"/>
                <a:cs typeface="Arial"/>
              </a:rPr>
              <a:t> </a:t>
            </a:r>
            <a:r>
              <a:rPr dirty="0" sz="3200" spc="-260">
                <a:latin typeface="Arial"/>
                <a:cs typeface="Arial"/>
              </a:rPr>
              <a:t>make</a:t>
            </a:r>
            <a:r>
              <a:rPr dirty="0" sz="3200" spc="-20">
                <a:latin typeface="Arial"/>
                <a:cs typeface="Arial"/>
              </a:rPr>
              <a:t> </a:t>
            </a:r>
            <a:r>
              <a:rPr dirty="0" sz="3200" spc="-45">
                <a:latin typeface="Arial"/>
                <a:cs typeface="Arial"/>
              </a:rPr>
              <a:t>detailed</a:t>
            </a:r>
            <a:r>
              <a:rPr dirty="0" sz="3200" spc="-135">
                <a:latin typeface="Arial"/>
                <a:cs typeface="Arial"/>
              </a:rPr>
              <a:t> </a:t>
            </a:r>
            <a:r>
              <a:rPr dirty="0" sz="3200" spc="-220">
                <a:latin typeface="Arial"/>
                <a:cs typeface="Arial"/>
              </a:rPr>
              <a:t>notes;</a:t>
            </a:r>
            <a:r>
              <a:rPr dirty="0" sz="3200" spc="-25">
                <a:latin typeface="Arial"/>
                <a:cs typeface="Arial"/>
              </a:rPr>
              <a:t> </a:t>
            </a:r>
            <a:r>
              <a:rPr dirty="0" sz="3200" spc="-125">
                <a:latin typeface="Arial"/>
                <a:cs typeface="Arial"/>
              </a:rPr>
              <a:t>don’t</a:t>
            </a:r>
            <a:r>
              <a:rPr dirty="0" sz="3200" spc="-75">
                <a:latin typeface="Arial"/>
                <a:cs typeface="Arial"/>
              </a:rPr>
              <a:t> </a:t>
            </a:r>
            <a:r>
              <a:rPr dirty="0" sz="3200" spc="-95">
                <a:latin typeface="Arial"/>
                <a:cs typeface="Arial"/>
              </a:rPr>
              <a:t>memorize.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60"/>
              <a:t>Grade</a:t>
            </a:r>
            <a:r>
              <a:rPr dirty="0" spc="-30"/>
              <a:t> </a:t>
            </a:r>
            <a:r>
              <a:rPr dirty="0" spc="-275"/>
              <a:t>distributions</a:t>
            </a:r>
            <a:r>
              <a:rPr dirty="0" spc="-10"/>
              <a:t> </a:t>
            </a:r>
            <a:r>
              <a:rPr dirty="0" spc="-235"/>
              <a:t>(syllabus,</a:t>
            </a:r>
            <a:r>
              <a:rPr dirty="0" spc="-10"/>
              <a:t> </a:t>
            </a:r>
            <a:r>
              <a:rPr dirty="0" spc="-204"/>
              <a:t>p.</a:t>
            </a:r>
            <a:r>
              <a:rPr dirty="0" spc="-15"/>
              <a:t> </a:t>
            </a:r>
            <a:r>
              <a:rPr dirty="0" spc="-25"/>
              <a:t>6)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9895" y="1511934"/>
            <a:ext cx="8274684" cy="10020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dirty="0" sz="3200" spc="-315" i="1">
                <a:latin typeface="Arial"/>
                <a:cs typeface="Arial"/>
              </a:rPr>
              <a:t>Your</a:t>
            </a:r>
            <a:r>
              <a:rPr dirty="0" sz="3200" spc="-5" i="1">
                <a:latin typeface="Arial"/>
                <a:cs typeface="Arial"/>
              </a:rPr>
              <a:t> </a:t>
            </a:r>
            <a:r>
              <a:rPr dirty="0" sz="3200" spc="-65" i="1">
                <a:latin typeface="Arial"/>
                <a:cs typeface="Arial"/>
              </a:rPr>
              <a:t>final</a:t>
            </a:r>
            <a:r>
              <a:rPr dirty="0" sz="3200" spc="-160" i="1">
                <a:latin typeface="Arial"/>
                <a:cs typeface="Arial"/>
              </a:rPr>
              <a:t> </a:t>
            </a:r>
            <a:r>
              <a:rPr dirty="0" sz="3200" spc="-145" i="1">
                <a:latin typeface="Arial"/>
                <a:cs typeface="Arial"/>
              </a:rPr>
              <a:t>grade</a:t>
            </a:r>
            <a:r>
              <a:rPr dirty="0" sz="3200" spc="-75" i="1">
                <a:latin typeface="Arial"/>
                <a:cs typeface="Arial"/>
              </a:rPr>
              <a:t> </a:t>
            </a:r>
            <a:r>
              <a:rPr dirty="0" sz="3200" spc="-280" i="1">
                <a:latin typeface="Arial"/>
                <a:cs typeface="Arial"/>
              </a:rPr>
              <a:t>is</a:t>
            </a:r>
            <a:r>
              <a:rPr dirty="0" sz="3200" spc="-15" i="1">
                <a:latin typeface="Arial"/>
                <a:cs typeface="Arial"/>
              </a:rPr>
              <a:t> </a:t>
            </a:r>
            <a:r>
              <a:rPr dirty="0" sz="3200" spc="-210" i="1">
                <a:latin typeface="Arial"/>
                <a:cs typeface="Arial"/>
              </a:rPr>
              <a:t>calculated</a:t>
            </a:r>
            <a:r>
              <a:rPr dirty="0" sz="3200" spc="-25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to</a:t>
            </a:r>
            <a:r>
              <a:rPr dirty="0" sz="3200" spc="-95" i="1">
                <a:latin typeface="Arial"/>
                <a:cs typeface="Arial"/>
              </a:rPr>
              <a:t> </a:t>
            </a:r>
            <a:r>
              <a:rPr dirty="0" sz="3200" spc="-150" i="1">
                <a:latin typeface="Arial"/>
                <a:cs typeface="Arial"/>
              </a:rPr>
              <a:t>give</a:t>
            </a:r>
            <a:r>
              <a:rPr dirty="0" sz="3200" spc="-40" i="1">
                <a:latin typeface="Arial"/>
                <a:cs typeface="Arial"/>
              </a:rPr>
              <a:t> </a:t>
            </a:r>
            <a:r>
              <a:rPr dirty="0" sz="3200" spc="-275" i="1">
                <a:latin typeface="Arial"/>
                <a:cs typeface="Arial"/>
              </a:rPr>
              <a:t>you</a:t>
            </a:r>
            <a:r>
              <a:rPr dirty="0" sz="3200" i="1">
                <a:latin typeface="Arial"/>
                <a:cs typeface="Arial"/>
              </a:rPr>
              <a:t> </a:t>
            </a:r>
            <a:r>
              <a:rPr dirty="0" sz="3200" spc="-265" i="1">
                <a:latin typeface="Arial"/>
                <a:cs typeface="Arial"/>
              </a:rPr>
              <a:t>the</a:t>
            </a:r>
            <a:r>
              <a:rPr dirty="0" sz="3200" spc="-5" i="1">
                <a:latin typeface="Arial"/>
                <a:cs typeface="Arial"/>
              </a:rPr>
              <a:t> </a:t>
            </a:r>
            <a:r>
              <a:rPr dirty="0" sz="3200" spc="-200" i="1">
                <a:latin typeface="Arial"/>
                <a:cs typeface="Arial"/>
              </a:rPr>
              <a:t>highest</a:t>
            </a:r>
            <a:r>
              <a:rPr dirty="0" sz="3200" spc="-200" i="1">
                <a:latin typeface="Arial"/>
                <a:cs typeface="Arial"/>
              </a:rPr>
              <a:t> </a:t>
            </a:r>
            <a:r>
              <a:rPr dirty="0" sz="3200" spc="-235" i="1">
                <a:latin typeface="Arial"/>
                <a:cs typeface="Arial"/>
              </a:rPr>
              <a:t>mark</a:t>
            </a:r>
            <a:r>
              <a:rPr dirty="0" sz="3200" spc="15" i="1">
                <a:latin typeface="Arial"/>
                <a:cs typeface="Arial"/>
              </a:rPr>
              <a:t> </a:t>
            </a:r>
            <a:r>
              <a:rPr dirty="0" sz="3200" spc="-265" i="1">
                <a:latin typeface="Arial"/>
                <a:cs typeface="Arial"/>
              </a:rPr>
              <a:t>possible</a:t>
            </a:r>
            <a:endParaRPr sz="32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0518" y="2797628"/>
            <a:ext cx="7023734" cy="1136015"/>
            <a:chOff x="850518" y="2797628"/>
            <a:chExt cx="7023734" cy="11360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0518" y="2797628"/>
              <a:ext cx="7023435" cy="11358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676394" y="3522726"/>
              <a:ext cx="249977" cy="33896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4676394" y="3522726"/>
              <a:ext cx="250190" cy="339090"/>
            </a:xfrm>
            <a:custGeom>
              <a:avLst/>
              <a:gdLst/>
              <a:ahLst/>
              <a:cxnLst/>
              <a:rect l="l" t="t" r="r" b="b"/>
              <a:pathLst>
                <a:path w="250189" h="339089">
                  <a:moveTo>
                    <a:pt x="249935" y="187071"/>
                  </a:moveTo>
                  <a:lnTo>
                    <a:pt x="224534" y="132269"/>
                  </a:lnTo>
                  <a:lnTo>
                    <a:pt x="156327" y="89846"/>
                  </a:lnTo>
                  <a:lnTo>
                    <a:pt x="109921" y="75142"/>
                  </a:lnTo>
                  <a:lnTo>
                    <a:pt x="57312" y="65773"/>
                  </a:lnTo>
                  <a:lnTo>
                    <a:pt x="0" y="62484"/>
                  </a:lnTo>
                  <a:lnTo>
                    <a:pt x="0" y="0"/>
                  </a:lnTo>
                  <a:lnTo>
                    <a:pt x="57312" y="3289"/>
                  </a:lnTo>
                  <a:lnTo>
                    <a:pt x="109921" y="12658"/>
                  </a:lnTo>
                  <a:lnTo>
                    <a:pt x="156327" y="27362"/>
                  </a:lnTo>
                  <a:lnTo>
                    <a:pt x="195032" y="46653"/>
                  </a:lnTo>
                  <a:lnTo>
                    <a:pt x="243335" y="96012"/>
                  </a:lnTo>
                  <a:lnTo>
                    <a:pt x="249935" y="124587"/>
                  </a:lnTo>
                  <a:lnTo>
                    <a:pt x="249935" y="187071"/>
                  </a:lnTo>
                  <a:lnTo>
                    <a:pt x="215737" y="249967"/>
                  </a:lnTo>
                  <a:lnTo>
                    <a:pt x="176143" y="275456"/>
                  </a:lnTo>
                  <a:lnTo>
                    <a:pt x="124358" y="295161"/>
                  </a:lnTo>
                  <a:lnTo>
                    <a:pt x="62483" y="307721"/>
                  </a:lnTo>
                  <a:lnTo>
                    <a:pt x="62483" y="338963"/>
                  </a:lnTo>
                  <a:lnTo>
                    <a:pt x="0" y="280416"/>
                  </a:lnTo>
                  <a:lnTo>
                    <a:pt x="62483" y="213994"/>
                  </a:lnTo>
                  <a:lnTo>
                    <a:pt x="62483" y="245237"/>
                  </a:lnTo>
                  <a:lnTo>
                    <a:pt x="124456" y="232660"/>
                  </a:lnTo>
                  <a:lnTo>
                    <a:pt x="176688" y="212725"/>
                  </a:lnTo>
                  <a:lnTo>
                    <a:pt x="216681" y="186693"/>
                  </a:lnTo>
                  <a:lnTo>
                    <a:pt x="241934" y="155829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6019038" y="3583305"/>
              <a:ext cx="249554" cy="275590"/>
            </a:xfrm>
            <a:custGeom>
              <a:avLst/>
              <a:gdLst/>
              <a:ahLst/>
              <a:cxnLst/>
              <a:rect l="l" t="t" r="r" b="b"/>
              <a:pathLst>
                <a:path w="249554" h="275589">
                  <a:moveTo>
                    <a:pt x="247396" y="0"/>
                  </a:moveTo>
                  <a:lnTo>
                    <a:pt x="235497" y="42380"/>
                  </a:lnTo>
                  <a:lnTo>
                    <a:pt x="214780" y="81148"/>
                  </a:lnTo>
                  <a:lnTo>
                    <a:pt x="186181" y="115379"/>
                  </a:lnTo>
                  <a:lnTo>
                    <a:pt x="150640" y="144149"/>
                  </a:lnTo>
                  <a:lnTo>
                    <a:pt x="109095" y="166534"/>
                  </a:lnTo>
                  <a:lnTo>
                    <a:pt x="62484" y="181610"/>
                  </a:lnTo>
                  <a:lnTo>
                    <a:pt x="62484" y="150368"/>
                  </a:lnTo>
                  <a:lnTo>
                    <a:pt x="0" y="219837"/>
                  </a:lnTo>
                  <a:lnTo>
                    <a:pt x="62484" y="275336"/>
                  </a:lnTo>
                  <a:lnTo>
                    <a:pt x="62484" y="244094"/>
                  </a:lnTo>
                  <a:lnTo>
                    <a:pt x="112508" y="227553"/>
                  </a:lnTo>
                  <a:lnTo>
                    <a:pt x="156248" y="202822"/>
                  </a:lnTo>
                  <a:lnTo>
                    <a:pt x="192752" y="171148"/>
                  </a:lnTo>
                  <a:lnTo>
                    <a:pt x="221070" y="133780"/>
                  </a:lnTo>
                  <a:lnTo>
                    <a:pt x="240250" y="91967"/>
                  </a:lnTo>
                  <a:lnTo>
                    <a:pt x="249342" y="46958"/>
                  </a:lnTo>
                  <a:lnTo>
                    <a:pt x="247396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019038" y="3332226"/>
              <a:ext cx="250190" cy="282575"/>
            </a:xfrm>
            <a:custGeom>
              <a:avLst/>
              <a:gdLst/>
              <a:ahLst/>
              <a:cxnLst/>
              <a:rect l="l" t="t" r="r" b="b"/>
              <a:pathLst>
                <a:path w="250189" h="282575">
                  <a:moveTo>
                    <a:pt x="0" y="0"/>
                  </a:moveTo>
                  <a:lnTo>
                    <a:pt x="0" y="62484"/>
                  </a:lnTo>
                  <a:lnTo>
                    <a:pt x="50374" y="66950"/>
                  </a:lnTo>
                  <a:lnTo>
                    <a:pt x="97291" y="79759"/>
                  </a:lnTo>
                  <a:lnTo>
                    <a:pt x="139747" y="100028"/>
                  </a:lnTo>
                  <a:lnTo>
                    <a:pt x="176736" y="126873"/>
                  </a:lnTo>
                  <a:lnTo>
                    <a:pt x="207254" y="159408"/>
                  </a:lnTo>
                  <a:lnTo>
                    <a:pt x="230296" y="196750"/>
                  </a:lnTo>
                  <a:lnTo>
                    <a:pt x="244858" y="238016"/>
                  </a:lnTo>
                  <a:lnTo>
                    <a:pt x="249936" y="282321"/>
                  </a:lnTo>
                  <a:lnTo>
                    <a:pt x="249936" y="219837"/>
                  </a:lnTo>
                  <a:lnTo>
                    <a:pt x="244858" y="175532"/>
                  </a:lnTo>
                  <a:lnTo>
                    <a:pt x="230296" y="134266"/>
                  </a:lnTo>
                  <a:lnTo>
                    <a:pt x="207254" y="96924"/>
                  </a:lnTo>
                  <a:lnTo>
                    <a:pt x="176736" y="64389"/>
                  </a:lnTo>
                  <a:lnTo>
                    <a:pt x="139747" y="37544"/>
                  </a:lnTo>
                  <a:lnTo>
                    <a:pt x="97291" y="17275"/>
                  </a:lnTo>
                  <a:lnTo>
                    <a:pt x="50374" y="44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019038" y="3332226"/>
              <a:ext cx="250190" cy="526415"/>
            </a:xfrm>
            <a:custGeom>
              <a:avLst/>
              <a:gdLst/>
              <a:ahLst/>
              <a:cxnLst/>
              <a:rect l="l" t="t" r="r" b="b"/>
              <a:pathLst>
                <a:path w="250189" h="526414">
                  <a:moveTo>
                    <a:pt x="249936" y="282321"/>
                  </a:moveTo>
                  <a:lnTo>
                    <a:pt x="244858" y="238016"/>
                  </a:lnTo>
                  <a:lnTo>
                    <a:pt x="230296" y="196750"/>
                  </a:lnTo>
                  <a:lnTo>
                    <a:pt x="207254" y="159408"/>
                  </a:lnTo>
                  <a:lnTo>
                    <a:pt x="176736" y="126873"/>
                  </a:lnTo>
                  <a:lnTo>
                    <a:pt x="139747" y="100028"/>
                  </a:lnTo>
                  <a:lnTo>
                    <a:pt x="97291" y="79759"/>
                  </a:lnTo>
                  <a:lnTo>
                    <a:pt x="50374" y="66950"/>
                  </a:lnTo>
                  <a:lnTo>
                    <a:pt x="0" y="62484"/>
                  </a:lnTo>
                  <a:lnTo>
                    <a:pt x="0" y="0"/>
                  </a:lnTo>
                  <a:lnTo>
                    <a:pt x="50374" y="4466"/>
                  </a:lnTo>
                  <a:lnTo>
                    <a:pt x="97291" y="17275"/>
                  </a:lnTo>
                  <a:lnTo>
                    <a:pt x="139747" y="37544"/>
                  </a:lnTo>
                  <a:lnTo>
                    <a:pt x="176736" y="64389"/>
                  </a:lnTo>
                  <a:lnTo>
                    <a:pt x="207254" y="96924"/>
                  </a:lnTo>
                  <a:lnTo>
                    <a:pt x="230296" y="134266"/>
                  </a:lnTo>
                  <a:lnTo>
                    <a:pt x="244858" y="175532"/>
                  </a:lnTo>
                  <a:lnTo>
                    <a:pt x="249936" y="219837"/>
                  </a:lnTo>
                  <a:lnTo>
                    <a:pt x="249936" y="282321"/>
                  </a:lnTo>
                  <a:lnTo>
                    <a:pt x="243714" y="331143"/>
                  </a:lnTo>
                  <a:lnTo>
                    <a:pt x="225862" y="376479"/>
                  </a:lnTo>
                  <a:lnTo>
                    <a:pt x="197596" y="416940"/>
                  </a:lnTo>
                  <a:lnTo>
                    <a:pt x="160132" y="451136"/>
                  </a:lnTo>
                  <a:lnTo>
                    <a:pt x="114689" y="477677"/>
                  </a:lnTo>
                  <a:lnTo>
                    <a:pt x="62484" y="495173"/>
                  </a:lnTo>
                  <a:lnTo>
                    <a:pt x="62484" y="526415"/>
                  </a:lnTo>
                  <a:lnTo>
                    <a:pt x="0" y="470916"/>
                  </a:lnTo>
                  <a:lnTo>
                    <a:pt x="62484" y="401447"/>
                  </a:lnTo>
                  <a:lnTo>
                    <a:pt x="62484" y="432688"/>
                  </a:lnTo>
                  <a:lnTo>
                    <a:pt x="109095" y="417613"/>
                  </a:lnTo>
                  <a:lnTo>
                    <a:pt x="150640" y="395228"/>
                  </a:lnTo>
                  <a:lnTo>
                    <a:pt x="186181" y="366458"/>
                  </a:lnTo>
                  <a:lnTo>
                    <a:pt x="214780" y="332227"/>
                  </a:lnTo>
                  <a:lnTo>
                    <a:pt x="235497" y="293459"/>
                  </a:lnTo>
                  <a:lnTo>
                    <a:pt x="247396" y="251078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7401306" y="3592576"/>
              <a:ext cx="248285" cy="275590"/>
            </a:xfrm>
            <a:custGeom>
              <a:avLst/>
              <a:gdLst/>
              <a:ahLst/>
              <a:cxnLst/>
              <a:rect l="l" t="t" r="r" b="b"/>
              <a:pathLst>
                <a:path w="248284" h="275589">
                  <a:moveTo>
                    <a:pt x="245872" y="0"/>
                  </a:moveTo>
                  <a:lnTo>
                    <a:pt x="234111" y="42496"/>
                  </a:lnTo>
                  <a:lnTo>
                    <a:pt x="213552" y="81359"/>
                  </a:lnTo>
                  <a:lnTo>
                    <a:pt x="185134" y="115665"/>
                  </a:lnTo>
                  <a:lnTo>
                    <a:pt x="149794" y="144488"/>
                  </a:lnTo>
                  <a:lnTo>
                    <a:pt x="108470" y="166905"/>
                  </a:lnTo>
                  <a:lnTo>
                    <a:pt x="62102" y="181991"/>
                  </a:lnTo>
                  <a:lnTo>
                    <a:pt x="62102" y="151003"/>
                  </a:lnTo>
                  <a:lnTo>
                    <a:pt x="0" y="220091"/>
                  </a:lnTo>
                  <a:lnTo>
                    <a:pt x="62102" y="275209"/>
                  </a:lnTo>
                  <a:lnTo>
                    <a:pt x="62102" y="244094"/>
                  </a:lnTo>
                  <a:lnTo>
                    <a:pt x="111811" y="227600"/>
                  </a:lnTo>
                  <a:lnTo>
                    <a:pt x="155263" y="202900"/>
                  </a:lnTo>
                  <a:lnTo>
                    <a:pt x="191521" y="171241"/>
                  </a:lnTo>
                  <a:lnTo>
                    <a:pt x="219649" y="133874"/>
                  </a:lnTo>
                  <a:lnTo>
                    <a:pt x="238708" y="92045"/>
                  </a:lnTo>
                  <a:lnTo>
                    <a:pt x="247762" y="47004"/>
                  </a:lnTo>
                  <a:lnTo>
                    <a:pt x="2458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7401306" y="3341370"/>
              <a:ext cx="248920" cy="282575"/>
            </a:xfrm>
            <a:custGeom>
              <a:avLst/>
              <a:gdLst/>
              <a:ahLst/>
              <a:cxnLst/>
              <a:rect l="l" t="t" r="r" b="b"/>
              <a:pathLst>
                <a:path w="248920" h="282575">
                  <a:moveTo>
                    <a:pt x="0" y="0"/>
                  </a:moveTo>
                  <a:lnTo>
                    <a:pt x="0" y="62102"/>
                  </a:lnTo>
                  <a:lnTo>
                    <a:pt x="50053" y="66575"/>
                  </a:lnTo>
                  <a:lnTo>
                    <a:pt x="96678" y="79400"/>
                  </a:lnTo>
                  <a:lnTo>
                    <a:pt x="138874" y="99694"/>
                  </a:lnTo>
                  <a:lnTo>
                    <a:pt x="175641" y="126571"/>
                  </a:lnTo>
                  <a:lnTo>
                    <a:pt x="205978" y="159145"/>
                  </a:lnTo>
                  <a:lnTo>
                    <a:pt x="228885" y="196530"/>
                  </a:lnTo>
                  <a:lnTo>
                    <a:pt x="243363" y="237841"/>
                  </a:lnTo>
                  <a:lnTo>
                    <a:pt x="248412" y="282193"/>
                  </a:lnTo>
                  <a:lnTo>
                    <a:pt x="248412" y="220090"/>
                  </a:lnTo>
                  <a:lnTo>
                    <a:pt x="243363" y="175738"/>
                  </a:lnTo>
                  <a:lnTo>
                    <a:pt x="228885" y="134427"/>
                  </a:lnTo>
                  <a:lnTo>
                    <a:pt x="205978" y="97042"/>
                  </a:lnTo>
                  <a:lnTo>
                    <a:pt x="175640" y="64468"/>
                  </a:lnTo>
                  <a:lnTo>
                    <a:pt x="138874" y="37591"/>
                  </a:lnTo>
                  <a:lnTo>
                    <a:pt x="96678" y="17297"/>
                  </a:lnTo>
                  <a:lnTo>
                    <a:pt x="50053" y="447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000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401306" y="3341370"/>
              <a:ext cx="248920" cy="526415"/>
            </a:xfrm>
            <a:custGeom>
              <a:avLst/>
              <a:gdLst/>
              <a:ahLst/>
              <a:cxnLst/>
              <a:rect l="l" t="t" r="r" b="b"/>
              <a:pathLst>
                <a:path w="248920" h="526414">
                  <a:moveTo>
                    <a:pt x="248412" y="282193"/>
                  </a:moveTo>
                  <a:lnTo>
                    <a:pt x="243363" y="237841"/>
                  </a:lnTo>
                  <a:lnTo>
                    <a:pt x="228885" y="196530"/>
                  </a:lnTo>
                  <a:lnTo>
                    <a:pt x="205978" y="159145"/>
                  </a:lnTo>
                  <a:lnTo>
                    <a:pt x="175641" y="126571"/>
                  </a:lnTo>
                  <a:lnTo>
                    <a:pt x="138874" y="99694"/>
                  </a:lnTo>
                  <a:lnTo>
                    <a:pt x="96678" y="79400"/>
                  </a:lnTo>
                  <a:lnTo>
                    <a:pt x="50053" y="66575"/>
                  </a:lnTo>
                  <a:lnTo>
                    <a:pt x="0" y="62102"/>
                  </a:lnTo>
                  <a:lnTo>
                    <a:pt x="0" y="0"/>
                  </a:lnTo>
                  <a:lnTo>
                    <a:pt x="50053" y="4472"/>
                  </a:lnTo>
                  <a:lnTo>
                    <a:pt x="96678" y="17297"/>
                  </a:lnTo>
                  <a:lnTo>
                    <a:pt x="138874" y="37591"/>
                  </a:lnTo>
                  <a:lnTo>
                    <a:pt x="175640" y="64468"/>
                  </a:lnTo>
                  <a:lnTo>
                    <a:pt x="205978" y="97042"/>
                  </a:lnTo>
                  <a:lnTo>
                    <a:pt x="228885" y="134427"/>
                  </a:lnTo>
                  <a:lnTo>
                    <a:pt x="243363" y="175738"/>
                  </a:lnTo>
                  <a:lnTo>
                    <a:pt x="248412" y="220090"/>
                  </a:lnTo>
                  <a:lnTo>
                    <a:pt x="248412" y="282193"/>
                  </a:lnTo>
                  <a:lnTo>
                    <a:pt x="242231" y="331123"/>
                  </a:lnTo>
                  <a:lnTo>
                    <a:pt x="224493" y="376531"/>
                  </a:lnTo>
                  <a:lnTo>
                    <a:pt x="196405" y="417036"/>
                  </a:lnTo>
                  <a:lnTo>
                    <a:pt x="159173" y="451254"/>
                  </a:lnTo>
                  <a:lnTo>
                    <a:pt x="114003" y="477803"/>
                  </a:lnTo>
                  <a:lnTo>
                    <a:pt x="62102" y="495299"/>
                  </a:lnTo>
                  <a:lnTo>
                    <a:pt x="62102" y="526414"/>
                  </a:lnTo>
                  <a:lnTo>
                    <a:pt x="0" y="471296"/>
                  </a:lnTo>
                  <a:lnTo>
                    <a:pt x="62102" y="402208"/>
                  </a:lnTo>
                  <a:lnTo>
                    <a:pt x="62102" y="433196"/>
                  </a:lnTo>
                  <a:lnTo>
                    <a:pt x="108470" y="418111"/>
                  </a:lnTo>
                  <a:lnTo>
                    <a:pt x="149794" y="395694"/>
                  </a:lnTo>
                  <a:lnTo>
                    <a:pt x="185134" y="366871"/>
                  </a:lnTo>
                  <a:lnTo>
                    <a:pt x="213552" y="332565"/>
                  </a:lnTo>
                  <a:lnTo>
                    <a:pt x="234111" y="293702"/>
                  </a:lnTo>
                  <a:lnTo>
                    <a:pt x="245872" y="251205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698741" y="3531870"/>
              <a:ext cx="237743" cy="338835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6698741" y="3531870"/>
              <a:ext cx="238125" cy="339090"/>
            </a:xfrm>
            <a:custGeom>
              <a:avLst/>
              <a:gdLst/>
              <a:ahLst/>
              <a:cxnLst/>
              <a:rect l="l" t="t" r="r" b="b"/>
              <a:pathLst>
                <a:path w="238125" h="339089">
                  <a:moveTo>
                    <a:pt x="0" y="186308"/>
                  </a:moveTo>
                  <a:lnTo>
                    <a:pt x="32455" y="122258"/>
                  </a:lnTo>
                  <a:lnTo>
                    <a:pt x="69627" y="96583"/>
                  </a:lnTo>
                  <a:lnTo>
                    <a:pt x="117743" y="76750"/>
                  </a:lnTo>
                  <a:lnTo>
                    <a:pt x="174536" y="63965"/>
                  </a:lnTo>
                  <a:lnTo>
                    <a:pt x="237743" y="59435"/>
                  </a:lnTo>
                  <a:lnTo>
                    <a:pt x="237743" y="0"/>
                  </a:lnTo>
                  <a:lnTo>
                    <a:pt x="174536" y="4529"/>
                  </a:lnTo>
                  <a:lnTo>
                    <a:pt x="117743" y="17314"/>
                  </a:lnTo>
                  <a:lnTo>
                    <a:pt x="69627" y="37147"/>
                  </a:lnTo>
                  <a:lnTo>
                    <a:pt x="32455" y="62822"/>
                  </a:lnTo>
                  <a:lnTo>
                    <a:pt x="8491" y="93133"/>
                  </a:lnTo>
                  <a:lnTo>
                    <a:pt x="0" y="126872"/>
                  </a:lnTo>
                  <a:lnTo>
                    <a:pt x="0" y="186308"/>
                  </a:lnTo>
                  <a:lnTo>
                    <a:pt x="32516" y="250386"/>
                  </a:lnTo>
                  <a:lnTo>
                    <a:pt x="70171" y="276313"/>
                  </a:lnTo>
                  <a:lnTo>
                    <a:pt x="119432" y="296345"/>
                  </a:lnTo>
                  <a:lnTo>
                    <a:pt x="178307" y="309117"/>
                  </a:lnTo>
                  <a:lnTo>
                    <a:pt x="178307" y="338835"/>
                  </a:lnTo>
                  <a:lnTo>
                    <a:pt x="237743" y="283463"/>
                  </a:lnTo>
                  <a:lnTo>
                    <a:pt x="178307" y="219963"/>
                  </a:lnTo>
                  <a:lnTo>
                    <a:pt x="178307" y="249681"/>
                  </a:lnTo>
                  <a:lnTo>
                    <a:pt x="118475" y="236618"/>
                  </a:lnTo>
                  <a:lnTo>
                    <a:pt x="68262" y="215852"/>
                  </a:lnTo>
                  <a:lnTo>
                    <a:pt x="30146" y="188727"/>
                  </a:lnTo>
                  <a:lnTo>
                    <a:pt x="6603" y="156590"/>
                  </a:lnTo>
                </a:path>
              </a:pathLst>
            </a:custGeom>
            <a:ln w="19050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75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 spc="-300"/>
              <a:t>Essential</a:t>
            </a:r>
            <a:r>
              <a:rPr dirty="0" spc="-25"/>
              <a:t> </a:t>
            </a:r>
            <a:r>
              <a:rPr dirty="0" spc="-325"/>
              <a:t>Requirements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9220" y="1477492"/>
            <a:ext cx="7362190" cy="323342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600" spc="-415">
                <a:latin typeface="Arial"/>
                <a:cs typeface="Arial"/>
              </a:rPr>
              <a:t>To</a:t>
            </a:r>
            <a:r>
              <a:rPr dirty="0" sz="2600" spc="-2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be</a:t>
            </a:r>
            <a:r>
              <a:rPr dirty="0" sz="2600" spc="-185">
                <a:latin typeface="Arial"/>
                <a:cs typeface="Arial"/>
              </a:rPr>
              <a:t> </a:t>
            </a:r>
            <a:r>
              <a:rPr dirty="0" sz="2600" spc="-105" i="1">
                <a:latin typeface="Arial"/>
                <a:cs typeface="Arial"/>
              </a:rPr>
              <a:t>eligible</a:t>
            </a:r>
            <a:r>
              <a:rPr dirty="0" sz="2600" spc="-75" i="1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to</a:t>
            </a:r>
            <a:r>
              <a:rPr dirty="0" sz="2600" spc="-160">
                <a:latin typeface="Arial"/>
                <a:cs typeface="Arial"/>
              </a:rPr>
              <a:t> </a:t>
            </a:r>
            <a:r>
              <a:rPr dirty="0" sz="2600" spc="-95">
                <a:latin typeface="Arial"/>
                <a:cs typeface="Arial"/>
              </a:rPr>
              <a:t>earn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at</a:t>
            </a:r>
            <a:r>
              <a:rPr dirty="0" sz="2600" spc="-125">
                <a:latin typeface="Arial"/>
                <a:cs typeface="Arial"/>
              </a:rPr>
              <a:t> least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 spc="-35">
                <a:latin typeface="Arial"/>
                <a:cs typeface="Arial"/>
              </a:rPr>
              <a:t>50%</a:t>
            </a:r>
            <a:r>
              <a:rPr dirty="0" sz="2600" spc="-90">
                <a:latin typeface="Arial"/>
                <a:cs typeface="Arial"/>
              </a:rPr>
              <a:t> </a:t>
            </a:r>
            <a:r>
              <a:rPr dirty="0" sz="2600" spc="-155">
                <a:latin typeface="Arial"/>
                <a:cs typeface="Arial"/>
              </a:rPr>
              <a:t>in</a:t>
            </a:r>
            <a:r>
              <a:rPr dirty="0" sz="2600" spc="-25">
                <a:latin typeface="Arial"/>
                <a:cs typeface="Arial"/>
              </a:rPr>
              <a:t> 2244,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180">
                <a:latin typeface="Arial"/>
                <a:cs typeface="Arial"/>
              </a:rPr>
              <a:t>you</a:t>
            </a:r>
            <a:r>
              <a:rPr dirty="0" sz="2600" spc="-35">
                <a:latin typeface="Arial"/>
                <a:cs typeface="Arial"/>
              </a:rPr>
              <a:t> </a:t>
            </a:r>
            <a:r>
              <a:rPr dirty="0" sz="2600" spc="-160">
                <a:latin typeface="Arial"/>
                <a:cs typeface="Arial"/>
              </a:rPr>
              <a:t>must…</a:t>
            </a:r>
            <a:endParaRPr sz="2600">
              <a:latin typeface="Arial"/>
              <a:cs typeface="Arial"/>
            </a:endParaRPr>
          </a:p>
          <a:p>
            <a:pPr marL="652145" indent="-274320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652145" algn="l"/>
              </a:tabLst>
            </a:pPr>
            <a:r>
              <a:rPr dirty="0" sz="2600" spc="-100">
                <a:latin typeface="Arial"/>
                <a:cs typeface="Arial"/>
              </a:rPr>
              <a:t>earn</a:t>
            </a:r>
            <a:r>
              <a:rPr dirty="0" sz="2600" spc="-85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at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125">
                <a:latin typeface="Arial"/>
                <a:cs typeface="Arial"/>
              </a:rPr>
              <a:t>least</a:t>
            </a:r>
            <a:r>
              <a:rPr dirty="0" sz="2600" spc="-50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20%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 spc="-235">
                <a:latin typeface="Arial"/>
                <a:cs typeface="Arial"/>
              </a:rPr>
              <a:t>on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 spc="-175">
                <a:latin typeface="Arial"/>
                <a:cs typeface="Arial"/>
              </a:rPr>
              <a:t>the</a:t>
            </a:r>
            <a:r>
              <a:rPr dirty="0" sz="2600" spc="-20">
                <a:latin typeface="Arial"/>
                <a:cs typeface="Arial"/>
              </a:rPr>
              <a:t> </a:t>
            </a:r>
            <a:r>
              <a:rPr dirty="0" sz="2600" spc="-254">
                <a:latin typeface="Arial"/>
                <a:cs typeface="Arial"/>
              </a:rPr>
              <a:t>Assignments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120">
                <a:latin typeface="Arial"/>
                <a:cs typeface="Arial"/>
              </a:rPr>
              <a:t>(p.</a:t>
            </a:r>
            <a:r>
              <a:rPr dirty="0" sz="2600" spc="-45">
                <a:latin typeface="Arial"/>
                <a:cs typeface="Arial"/>
              </a:rPr>
              <a:t> </a:t>
            </a:r>
            <a:r>
              <a:rPr dirty="0" sz="2600" spc="-25">
                <a:latin typeface="Arial"/>
                <a:cs typeface="Arial"/>
              </a:rPr>
              <a:t>7)</a:t>
            </a:r>
            <a:endParaRPr sz="26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530"/>
              </a:spcBef>
              <a:buClr>
                <a:srgbClr val="717BA2"/>
              </a:buClr>
              <a:buSzPct val="68181"/>
              <a:buFont typeface="Wingdings"/>
              <a:buChar char=""/>
              <a:tabLst>
                <a:tab pos="927100" algn="l"/>
              </a:tabLst>
            </a:pPr>
            <a:r>
              <a:rPr dirty="0" sz="2200" spc="-145">
                <a:latin typeface="Arial"/>
                <a:cs typeface="Arial"/>
              </a:rPr>
              <a:t>complete</a:t>
            </a:r>
            <a:r>
              <a:rPr dirty="0" sz="2200" spc="-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all</a:t>
            </a:r>
            <a:r>
              <a:rPr dirty="0" sz="2200" spc="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3</a:t>
            </a:r>
            <a:r>
              <a:rPr dirty="0" sz="2200" spc="-15">
                <a:latin typeface="Arial"/>
                <a:cs typeface="Arial"/>
              </a:rPr>
              <a:t> </a:t>
            </a:r>
            <a:r>
              <a:rPr dirty="0" sz="2200" spc="-120">
                <a:latin typeface="Arial"/>
                <a:cs typeface="Arial"/>
              </a:rPr>
              <a:t>Assignments</a:t>
            </a:r>
            <a:endParaRPr sz="22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495"/>
              </a:spcBef>
              <a:buClr>
                <a:srgbClr val="717BA2"/>
              </a:buClr>
              <a:buSzPct val="68181"/>
              <a:buFont typeface="Wingdings"/>
              <a:buChar char=""/>
              <a:tabLst>
                <a:tab pos="927100" algn="l"/>
              </a:tabLst>
            </a:pPr>
            <a:r>
              <a:rPr dirty="0" sz="2200" spc="-80">
                <a:latin typeface="Arial"/>
                <a:cs typeface="Arial"/>
              </a:rPr>
              <a:t>earn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at</a:t>
            </a:r>
            <a:r>
              <a:rPr dirty="0" sz="2200" spc="-40">
                <a:latin typeface="Arial"/>
                <a:cs typeface="Arial"/>
              </a:rPr>
              <a:t> </a:t>
            </a:r>
            <a:r>
              <a:rPr dirty="0" sz="2200" spc="-100">
                <a:latin typeface="Arial"/>
                <a:cs typeface="Arial"/>
              </a:rPr>
              <a:t>least</a:t>
            </a:r>
            <a:r>
              <a:rPr dirty="0" sz="2200" spc="-1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5</a:t>
            </a:r>
            <a:r>
              <a:rPr dirty="0" sz="2200" spc="-30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‘level</a:t>
            </a:r>
            <a:r>
              <a:rPr dirty="0" sz="2200">
                <a:latin typeface="Arial"/>
                <a:cs typeface="Arial"/>
              </a:rPr>
              <a:t> </a:t>
            </a:r>
            <a:r>
              <a:rPr dirty="0" sz="2200" spc="-204">
                <a:latin typeface="Arial"/>
                <a:cs typeface="Arial"/>
              </a:rPr>
              <a:t>P’</a:t>
            </a:r>
            <a:r>
              <a:rPr dirty="0" sz="2200">
                <a:latin typeface="Arial"/>
                <a:cs typeface="Arial"/>
              </a:rPr>
              <a:t> for</a:t>
            </a:r>
            <a:r>
              <a:rPr dirty="0" sz="2200" spc="-15">
                <a:latin typeface="Arial"/>
                <a:cs typeface="Arial"/>
              </a:rPr>
              <a:t> </a:t>
            </a:r>
            <a:r>
              <a:rPr dirty="0" sz="2200" spc="-200">
                <a:latin typeface="Arial"/>
                <a:cs typeface="Arial"/>
              </a:rPr>
              <a:t>assignment</a:t>
            </a:r>
            <a:r>
              <a:rPr dirty="0" sz="2200" spc="25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outcomes</a:t>
            </a:r>
            <a:endParaRPr sz="22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505"/>
              </a:spcBef>
              <a:buClr>
                <a:srgbClr val="717BA2"/>
              </a:buClr>
              <a:buSzPct val="68181"/>
              <a:buFont typeface="Wingdings"/>
              <a:buChar char=""/>
              <a:tabLst>
                <a:tab pos="927100" algn="l"/>
              </a:tabLst>
            </a:pPr>
            <a:r>
              <a:rPr dirty="0" sz="2200" spc="-80">
                <a:latin typeface="Arial"/>
                <a:cs typeface="Arial"/>
              </a:rPr>
              <a:t>earn</a:t>
            </a:r>
            <a:r>
              <a:rPr dirty="0" sz="2200" spc="-75">
                <a:latin typeface="Arial"/>
                <a:cs typeface="Arial"/>
              </a:rPr>
              <a:t> </a:t>
            </a:r>
            <a:r>
              <a:rPr dirty="0" sz="2200" spc="-204">
                <a:latin typeface="Arial"/>
                <a:cs typeface="Arial"/>
              </a:rPr>
              <a:t>no</a:t>
            </a:r>
            <a:r>
              <a:rPr dirty="0" sz="2200">
                <a:latin typeface="Arial"/>
                <a:cs typeface="Arial"/>
              </a:rPr>
              <a:t> </a:t>
            </a:r>
            <a:r>
              <a:rPr dirty="0" sz="2200" spc="-165">
                <a:latin typeface="Arial"/>
                <a:cs typeface="Arial"/>
              </a:rPr>
              <a:t>more</a:t>
            </a:r>
            <a:r>
              <a:rPr dirty="0" sz="2200" spc="-5">
                <a:latin typeface="Arial"/>
                <a:cs typeface="Arial"/>
              </a:rPr>
              <a:t> </a:t>
            </a:r>
            <a:r>
              <a:rPr dirty="0" sz="2200" spc="-150">
                <a:latin typeface="Arial"/>
                <a:cs typeface="Arial"/>
              </a:rPr>
              <a:t>than</a:t>
            </a:r>
            <a:r>
              <a:rPr dirty="0" sz="2200" spc="-1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2</a:t>
            </a:r>
            <a:r>
              <a:rPr dirty="0" sz="2200" spc="-90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‘level</a:t>
            </a:r>
            <a:r>
              <a:rPr dirty="0" sz="2200">
                <a:latin typeface="Arial"/>
                <a:cs typeface="Arial"/>
              </a:rPr>
              <a:t> N’</a:t>
            </a:r>
            <a:r>
              <a:rPr dirty="0" sz="2200" spc="-20">
                <a:latin typeface="Arial"/>
                <a:cs typeface="Arial"/>
              </a:rPr>
              <a:t> </a:t>
            </a:r>
            <a:r>
              <a:rPr dirty="0" sz="2200">
                <a:latin typeface="Arial"/>
                <a:cs typeface="Arial"/>
              </a:rPr>
              <a:t>for</a:t>
            </a:r>
            <a:r>
              <a:rPr dirty="0" sz="2200" spc="-15">
                <a:latin typeface="Arial"/>
                <a:cs typeface="Arial"/>
              </a:rPr>
              <a:t> </a:t>
            </a:r>
            <a:r>
              <a:rPr dirty="0" sz="2200" spc="-200">
                <a:latin typeface="Arial"/>
                <a:cs typeface="Arial"/>
              </a:rPr>
              <a:t>assignment</a:t>
            </a:r>
            <a:r>
              <a:rPr dirty="0" sz="2200" spc="10">
                <a:latin typeface="Arial"/>
                <a:cs typeface="Arial"/>
              </a:rPr>
              <a:t> </a:t>
            </a:r>
            <a:r>
              <a:rPr dirty="0" sz="2200" spc="-70">
                <a:latin typeface="Arial"/>
                <a:cs typeface="Arial"/>
              </a:rPr>
              <a:t>outcomes</a:t>
            </a:r>
            <a:endParaRPr sz="2200">
              <a:latin typeface="Arial"/>
              <a:cs typeface="Arial"/>
            </a:endParaRPr>
          </a:p>
          <a:p>
            <a:pPr marL="652145" indent="-274320">
              <a:lnSpc>
                <a:spcPct val="100000"/>
              </a:lnSpc>
              <a:spcBef>
                <a:spcPts val="570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652145" algn="l"/>
              </a:tabLst>
            </a:pPr>
            <a:r>
              <a:rPr dirty="0" sz="2600" spc="-105">
                <a:latin typeface="Arial"/>
                <a:cs typeface="Arial"/>
              </a:rPr>
              <a:t>earn</a:t>
            </a:r>
            <a:r>
              <a:rPr dirty="0" sz="2600" spc="-80">
                <a:latin typeface="Arial"/>
                <a:cs typeface="Arial"/>
              </a:rPr>
              <a:t> </a:t>
            </a:r>
            <a:r>
              <a:rPr dirty="0" sz="2600">
                <a:latin typeface="Arial"/>
                <a:cs typeface="Arial"/>
              </a:rPr>
              <a:t>at</a:t>
            </a:r>
            <a:r>
              <a:rPr dirty="0" sz="2600" spc="-125">
                <a:latin typeface="Arial"/>
                <a:cs typeface="Arial"/>
              </a:rPr>
              <a:t> least</a:t>
            </a:r>
            <a:r>
              <a:rPr dirty="0" sz="2600" spc="-55">
                <a:latin typeface="Arial"/>
                <a:cs typeface="Arial"/>
              </a:rPr>
              <a:t> </a:t>
            </a:r>
            <a:r>
              <a:rPr dirty="0" sz="2600" spc="-20">
                <a:latin typeface="Arial"/>
                <a:cs typeface="Arial"/>
              </a:rPr>
              <a:t>40%</a:t>
            </a:r>
            <a:r>
              <a:rPr dirty="0" sz="2600" spc="-70">
                <a:latin typeface="Arial"/>
                <a:cs typeface="Arial"/>
              </a:rPr>
              <a:t> </a:t>
            </a:r>
            <a:r>
              <a:rPr dirty="0" sz="2600" spc="-235">
                <a:latin typeface="Arial"/>
                <a:cs typeface="Arial"/>
              </a:rPr>
              <a:t>on</a:t>
            </a:r>
            <a:r>
              <a:rPr dirty="0" sz="2600" spc="-25">
                <a:latin typeface="Arial"/>
                <a:cs typeface="Arial"/>
              </a:rPr>
              <a:t> </a:t>
            </a:r>
            <a:r>
              <a:rPr dirty="0" sz="2600" spc="-160">
                <a:latin typeface="Arial"/>
                <a:cs typeface="Arial"/>
              </a:rPr>
              <a:t>Final</a:t>
            </a:r>
            <a:r>
              <a:rPr dirty="0" sz="2600" spc="-20">
                <a:latin typeface="Arial"/>
                <a:cs typeface="Arial"/>
              </a:rPr>
              <a:t> </a:t>
            </a:r>
            <a:r>
              <a:rPr dirty="0" sz="2600" spc="-290">
                <a:latin typeface="Arial"/>
                <a:cs typeface="Arial"/>
              </a:rPr>
              <a:t>Exam</a:t>
            </a:r>
            <a:endParaRPr sz="2600">
              <a:latin typeface="Arial"/>
              <a:cs typeface="Arial"/>
            </a:endParaRPr>
          </a:p>
          <a:p>
            <a:pPr marL="97790">
              <a:lnSpc>
                <a:spcPct val="100000"/>
              </a:lnSpc>
              <a:spcBef>
                <a:spcPts val="1795"/>
              </a:spcBef>
            </a:pPr>
            <a:r>
              <a:rPr dirty="0" sz="2400" spc="-170">
                <a:latin typeface="Arial"/>
                <a:cs typeface="Arial"/>
              </a:rPr>
              <a:t>Example:</a:t>
            </a:r>
            <a:r>
              <a:rPr dirty="0" sz="2400" spc="10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partial</a:t>
            </a:r>
            <a:r>
              <a:rPr dirty="0" sz="2400" spc="25">
                <a:latin typeface="Arial"/>
                <a:cs typeface="Arial"/>
              </a:rPr>
              <a:t> </a:t>
            </a:r>
            <a:r>
              <a:rPr dirty="0" sz="2400" spc="-240" i="1">
                <a:latin typeface="Arial"/>
                <a:cs typeface="Arial"/>
              </a:rPr>
              <a:t>Assignment</a:t>
            </a:r>
            <a:r>
              <a:rPr dirty="0" sz="2400" spc="15" i="1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rubric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4" name="object 4" descr="Example of rubric for Assignments. Shows a table with 4 columns labeled Level M (mastery), level P (proficiency), level A (approaching proficiency) and level N (not met). There is one row with the learning outcome &quot;Apply vocabulary to describe statistical concepts, procedures, and ideas; distinguish among common sampling and study designs&quot;. For each column, there is a description of what characterises the 'level'. For example, Level P has the description 'clear attempt to apply statistical vocabulary where appropriate, except: minor inaccuracies in vocabulary occur, or, minor absence of relevant vocabulary for concepts/processes that are obviously implemented in design. 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0415" y="4745735"/>
            <a:ext cx="8554676" cy="188366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75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 spc="-235"/>
              <a:t>Activities</a:t>
            </a:r>
            <a:r>
              <a:rPr dirty="0" spc="-25"/>
              <a:t> </a:t>
            </a:r>
            <a:r>
              <a:rPr dirty="0" spc="-240"/>
              <a:t>(syllabus</a:t>
            </a:r>
            <a:r>
              <a:rPr dirty="0" spc="-25"/>
              <a:t> </a:t>
            </a:r>
            <a:r>
              <a:rPr dirty="0" spc="-204"/>
              <a:t>p.</a:t>
            </a:r>
            <a:r>
              <a:rPr dirty="0" spc="-35"/>
              <a:t> </a:t>
            </a:r>
            <a:r>
              <a:rPr dirty="0"/>
              <a:t>8</a:t>
            </a:r>
            <a:r>
              <a:rPr dirty="0" spc="-45"/>
              <a:t> </a:t>
            </a:r>
            <a:r>
              <a:rPr dirty="0" spc="-340"/>
              <a:t>&amp;</a:t>
            </a:r>
            <a:r>
              <a:rPr dirty="0" spc="-45"/>
              <a:t> </a:t>
            </a:r>
            <a:r>
              <a:rPr dirty="0" spc="-25"/>
              <a:t>9)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6827" y="1470859"/>
            <a:ext cx="8574405" cy="2546350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35"/>
              </a:spcBef>
            </a:pPr>
            <a:r>
              <a:rPr dirty="0" sz="3200" spc="-240" i="1">
                <a:latin typeface="Arial"/>
                <a:cs typeface="Arial"/>
              </a:rPr>
              <a:t>Short</a:t>
            </a:r>
            <a:r>
              <a:rPr dirty="0" sz="3200" i="1">
                <a:latin typeface="Arial"/>
                <a:cs typeface="Arial"/>
              </a:rPr>
              <a:t> </a:t>
            </a:r>
            <a:r>
              <a:rPr dirty="0" sz="3200" spc="-290" i="1">
                <a:latin typeface="Arial"/>
                <a:cs typeface="Arial"/>
              </a:rPr>
              <a:t>homework</a:t>
            </a:r>
            <a:r>
              <a:rPr dirty="0" sz="3200" spc="5" i="1">
                <a:latin typeface="Arial"/>
                <a:cs typeface="Arial"/>
              </a:rPr>
              <a:t> </a:t>
            </a:r>
            <a:r>
              <a:rPr dirty="0" sz="3200" spc="-180" i="1">
                <a:latin typeface="Arial"/>
                <a:cs typeface="Arial"/>
              </a:rPr>
              <a:t>activities</a:t>
            </a:r>
            <a:r>
              <a:rPr dirty="0" sz="3200" spc="-10" i="1">
                <a:latin typeface="Arial"/>
                <a:cs typeface="Arial"/>
              </a:rPr>
              <a:t> </a:t>
            </a:r>
            <a:r>
              <a:rPr dirty="0" sz="3200" i="1">
                <a:latin typeface="Arial"/>
                <a:cs typeface="Arial"/>
              </a:rPr>
              <a:t>for</a:t>
            </a:r>
            <a:r>
              <a:rPr dirty="0" sz="3200" spc="15" i="1">
                <a:latin typeface="Arial"/>
                <a:cs typeface="Arial"/>
              </a:rPr>
              <a:t> </a:t>
            </a:r>
            <a:r>
              <a:rPr dirty="0" sz="3200" spc="-185" i="1">
                <a:latin typeface="Arial"/>
                <a:cs typeface="Arial"/>
              </a:rPr>
              <a:t>motivation</a:t>
            </a:r>
            <a:r>
              <a:rPr dirty="0" sz="3200" spc="-20" i="1">
                <a:latin typeface="Arial"/>
                <a:cs typeface="Arial"/>
              </a:rPr>
              <a:t> </a:t>
            </a:r>
            <a:r>
              <a:rPr dirty="0" sz="3200" spc="-254" i="1">
                <a:latin typeface="Arial"/>
                <a:cs typeface="Arial"/>
              </a:rPr>
              <a:t>and</a:t>
            </a:r>
            <a:r>
              <a:rPr dirty="0" sz="3200" spc="15" i="1">
                <a:latin typeface="Arial"/>
                <a:cs typeface="Arial"/>
              </a:rPr>
              <a:t> </a:t>
            </a:r>
            <a:r>
              <a:rPr dirty="0" sz="3200" spc="-165" i="1">
                <a:latin typeface="Arial"/>
                <a:cs typeface="Arial"/>
              </a:rPr>
              <a:t>feedback</a:t>
            </a:r>
            <a:endParaRPr sz="3200">
              <a:latin typeface="Arial"/>
              <a:cs typeface="Arial"/>
            </a:endParaRPr>
          </a:p>
          <a:p>
            <a:pPr marL="738505" indent="-274320">
              <a:lnSpc>
                <a:spcPct val="100000"/>
              </a:lnSpc>
              <a:spcBef>
                <a:spcPts val="630"/>
              </a:spcBef>
              <a:buClr>
                <a:srgbClr val="717BA2"/>
              </a:buClr>
              <a:buSzPct val="69642"/>
              <a:buFont typeface="Wingdings"/>
              <a:buChar char=""/>
              <a:tabLst>
                <a:tab pos="738505" algn="l"/>
              </a:tabLst>
            </a:pPr>
            <a:r>
              <a:rPr dirty="0" sz="2800">
                <a:latin typeface="Arial"/>
                <a:cs typeface="Arial"/>
              </a:rPr>
              <a:t>5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 spc="-155">
                <a:latin typeface="Arial"/>
                <a:cs typeface="Arial"/>
              </a:rPr>
              <a:t>Activities,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160">
                <a:latin typeface="Arial"/>
                <a:cs typeface="Arial"/>
              </a:rPr>
              <a:t>mix</a:t>
            </a:r>
            <a:r>
              <a:rPr dirty="0" sz="2800">
                <a:latin typeface="Arial"/>
                <a:cs typeface="Arial"/>
              </a:rPr>
              <a:t> of</a:t>
            </a:r>
            <a:r>
              <a:rPr dirty="0" sz="2800" spc="70">
                <a:latin typeface="Arial"/>
                <a:cs typeface="Arial"/>
              </a:rPr>
              <a:t> </a:t>
            </a:r>
            <a:r>
              <a:rPr dirty="0" sz="2800" spc="-200">
                <a:latin typeface="Arial"/>
                <a:cs typeface="Arial"/>
              </a:rPr>
              <a:t>question</a:t>
            </a:r>
            <a:r>
              <a:rPr dirty="0" sz="2800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types</a:t>
            </a:r>
            <a:endParaRPr sz="2800">
              <a:latin typeface="Arial"/>
              <a:cs typeface="Arial"/>
            </a:endParaRPr>
          </a:p>
          <a:p>
            <a:pPr marL="738505" marR="91440" indent="-274320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69642"/>
              <a:buFont typeface="Wingdings"/>
              <a:buChar char=""/>
              <a:tabLst>
                <a:tab pos="738505" algn="l"/>
              </a:tabLst>
            </a:pPr>
            <a:r>
              <a:rPr dirty="0" sz="2800" spc="-170">
                <a:latin typeface="Arial"/>
                <a:cs typeface="Arial"/>
              </a:rPr>
              <a:t>estimate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spc="-30">
                <a:latin typeface="Arial"/>
                <a:cs typeface="Arial"/>
              </a:rPr>
              <a:t>30-</a:t>
            </a:r>
            <a:r>
              <a:rPr dirty="0" sz="2800">
                <a:latin typeface="Arial"/>
                <a:cs typeface="Arial"/>
              </a:rPr>
              <a:t>60</a:t>
            </a:r>
            <a:r>
              <a:rPr dirty="0" sz="2800" spc="-95">
                <a:latin typeface="Arial"/>
                <a:cs typeface="Arial"/>
              </a:rPr>
              <a:t> </a:t>
            </a:r>
            <a:r>
              <a:rPr dirty="0" sz="2800" spc="-260">
                <a:latin typeface="Arial"/>
                <a:cs typeface="Arial"/>
              </a:rPr>
              <a:t>min,</a:t>
            </a:r>
            <a:r>
              <a:rPr dirty="0" sz="2800">
                <a:latin typeface="Arial"/>
                <a:cs typeface="Arial"/>
              </a:rPr>
              <a:t> </a:t>
            </a:r>
            <a:r>
              <a:rPr dirty="0" sz="2800" spc="-465" b="1" i="1">
                <a:latin typeface="Arial"/>
                <a:cs typeface="Arial"/>
              </a:rPr>
              <a:t>on</a:t>
            </a:r>
            <a:r>
              <a:rPr dirty="0" sz="2800" spc="-35" b="1" i="1">
                <a:latin typeface="Arial"/>
                <a:cs typeface="Arial"/>
              </a:rPr>
              <a:t> </a:t>
            </a:r>
            <a:r>
              <a:rPr dirty="0" sz="2800" spc="-260" b="1" i="1">
                <a:latin typeface="Arial"/>
                <a:cs typeface="Arial"/>
              </a:rPr>
              <a:t>average</a:t>
            </a:r>
            <a:r>
              <a:rPr dirty="0" sz="2800" spc="-260">
                <a:latin typeface="Arial"/>
                <a:cs typeface="Arial"/>
              </a:rPr>
              <a:t>,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 spc="-340">
                <a:latin typeface="Arial"/>
                <a:cs typeface="Arial"/>
              </a:rPr>
              <a:t>IF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215">
                <a:latin typeface="Arial"/>
                <a:cs typeface="Arial"/>
              </a:rPr>
              <a:t>you</a:t>
            </a:r>
            <a:r>
              <a:rPr dirty="0" sz="2800" spc="-10">
                <a:latin typeface="Arial"/>
                <a:cs typeface="Arial"/>
              </a:rPr>
              <a:t> are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 spc="-140">
                <a:latin typeface="Arial"/>
                <a:cs typeface="Arial"/>
              </a:rPr>
              <a:t>keeping</a:t>
            </a:r>
            <a:r>
              <a:rPr dirty="0" sz="2800" spc="-30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up </a:t>
            </a:r>
            <a:r>
              <a:rPr dirty="0" sz="2800" spc="-130">
                <a:latin typeface="Arial"/>
                <a:cs typeface="Arial"/>
              </a:rPr>
              <a:t>with</a:t>
            </a:r>
            <a:r>
              <a:rPr dirty="0" sz="2800" spc="-25">
                <a:latin typeface="Arial"/>
                <a:cs typeface="Arial"/>
              </a:rPr>
              <a:t> </a:t>
            </a:r>
            <a:r>
              <a:rPr dirty="0" sz="2800" spc="-180">
                <a:latin typeface="Arial"/>
                <a:cs typeface="Arial"/>
              </a:rPr>
              <a:t>the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course</a:t>
            </a:r>
            <a:endParaRPr sz="2800">
              <a:latin typeface="Arial"/>
              <a:cs typeface="Arial"/>
            </a:endParaRPr>
          </a:p>
          <a:p>
            <a:pPr marL="738505" indent="-274320">
              <a:lnSpc>
                <a:spcPct val="100000"/>
              </a:lnSpc>
              <a:spcBef>
                <a:spcPts val="605"/>
              </a:spcBef>
              <a:buClr>
                <a:srgbClr val="717BA2"/>
              </a:buClr>
              <a:buSzPct val="69642"/>
              <a:buFont typeface="Wingdings"/>
              <a:buChar char=""/>
              <a:tabLst>
                <a:tab pos="738505" algn="l"/>
              </a:tabLst>
            </a:pPr>
            <a:r>
              <a:rPr dirty="0" sz="2800" spc="-25">
                <a:latin typeface="Arial"/>
                <a:cs typeface="Arial"/>
              </a:rPr>
              <a:t>graded</a:t>
            </a:r>
            <a:r>
              <a:rPr dirty="0" sz="2800" spc="-170">
                <a:latin typeface="Arial"/>
                <a:cs typeface="Arial"/>
              </a:rPr>
              <a:t> </a:t>
            </a:r>
            <a:r>
              <a:rPr dirty="0" sz="2800" spc="-254">
                <a:latin typeface="Arial"/>
                <a:cs typeface="Arial"/>
              </a:rPr>
              <a:t>as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 spc="-195" b="1">
                <a:latin typeface="Arial"/>
                <a:cs typeface="Arial"/>
              </a:rPr>
              <a:t>F</a:t>
            </a:r>
            <a:r>
              <a:rPr dirty="0" sz="2800" spc="-195">
                <a:latin typeface="Arial"/>
                <a:cs typeface="Arial"/>
              </a:rPr>
              <a:t>ull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credit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 spc="620">
                <a:latin typeface="Arial"/>
                <a:cs typeface="Arial"/>
              </a:rPr>
              <a:t>/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 spc="-45" b="1">
                <a:latin typeface="Arial"/>
                <a:cs typeface="Arial"/>
              </a:rPr>
              <a:t>P</a:t>
            </a:r>
            <a:r>
              <a:rPr dirty="0" sz="2800" spc="-45">
                <a:latin typeface="Arial"/>
                <a:cs typeface="Arial"/>
              </a:rPr>
              <a:t>artial</a:t>
            </a:r>
            <a:r>
              <a:rPr dirty="0" sz="2800" spc="-60">
                <a:latin typeface="Arial"/>
                <a:cs typeface="Arial"/>
              </a:rPr>
              <a:t> </a:t>
            </a:r>
            <a:r>
              <a:rPr dirty="0" sz="2800" spc="-80">
                <a:latin typeface="Arial"/>
                <a:cs typeface="Arial"/>
              </a:rPr>
              <a:t>credit</a:t>
            </a:r>
            <a:r>
              <a:rPr dirty="0" sz="2800" spc="-70">
                <a:latin typeface="Arial"/>
                <a:cs typeface="Arial"/>
              </a:rPr>
              <a:t> </a:t>
            </a:r>
            <a:r>
              <a:rPr dirty="0" sz="2800" spc="620">
                <a:latin typeface="Arial"/>
                <a:cs typeface="Arial"/>
              </a:rPr>
              <a:t>/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 spc="-100" b="1">
                <a:latin typeface="Arial"/>
                <a:cs typeface="Arial"/>
              </a:rPr>
              <a:t>N</a:t>
            </a:r>
            <a:r>
              <a:rPr dirty="0" sz="2800" spc="-100">
                <a:latin typeface="Arial"/>
                <a:cs typeface="Arial"/>
              </a:rPr>
              <a:t>o</a:t>
            </a:r>
            <a:r>
              <a:rPr dirty="0" sz="2800" spc="-55">
                <a:latin typeface="Arial"/>
                <a:cs typeface="Arial"/>
              </a:rPr>
              <a:t> </a:t>
            </a:r>
            <a:r>
              <a:rPr dirty="0" sz="2800" spc="-10">
                <a:latin typeface="Arial"/>
                <a:cs typeface="Arial"/>
              </a:rPr>
              <a:t>credit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62798" y="4188965"/>
            <a:ext cx="6715249" cy="216555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75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 spc="-300"/>
              <a:t>Academic</a:t>
            </a:r>
            <a:r>
              <a:rPr dirty="0" spc="-15"/>
              <a:t> </a:t>
            </a:r>
            <a:r>
              <a:rPr dirty="0" spc="-295"/>
              <a:t>considerations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9148" y="1476273"/>
            <a:ext cx="8648065" cy="2819400"/>
          </a:xfrm>
          <a:prstGeom prst="rect">
            <a:avLst/>
          </a:prstGeom>
        </p:spPr>
        <p:txBody>
          <a:bodyPr wrap="square" lIns="0" tIns="889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</a:pPr>
            <a:r>
              <a:rPr dirty="0" sz="2800" spc="-290" i="1">
                <a:latin typeface="Arial"/>
                <a:cs typeface="Arial"/>
              </a:rPr>
              <a:t>Please,</a:t>
            </a:r>
            <a:r>
              <a:rPr dirty="0" sz="2800" spc="5" i="1">
                <a:latin typeface="Arial"/>
                <a:cs typeface="Arial"/>
              </a:rPr>
              <a:t> </a:t>
            </a:r>
            <a:r>
              <a:rPr dirty="0" sz="2800" spc="-254" i="1">
                <a:latin typeface="Arial"/>
                <a:cs typeface="Arial"/>
              </a:rPr>
              <a:t>please,</a:t>
            </a:r>
            <a:r>
              <a:rPr dirty="0" sz="2800" spc="5" i="1">
                <a:latin typeface="Arial"/>
                <a:cs typeface="Arial"/>
              </a:rPr>
              <a:t> </a:t>
            </a:r>
            <a:r>
              <a:rPr dirty="0" sz="2800" spc="-260" i="1">
                <a:latin typeface="Arial"/>
                <a:cs typeface="Arial"/>
              </a:rPr>
              <a:t>please</a:t>
            </a:r>
            <a:r>
              <a:rPr dirty="0" sz="2800" spc="10" i="1">
                <a:latin typeface="Arial"/>
                <a:cs typeface="Arial"/>
              </a:rPr>
              <a:t> </a:t>
            </a:r>
            <a:r>
              <a:rPr dirty="0" sz="2800" spc="-170" i="1">
                <a:latin typeface="Arial"/>
                <a:cs typeface="Arial"/>
              </a:rPr>
              <a:t>read</a:t>
            </a:r>
            <a:r>
              <a:rPr dirty="0" sz="2800" spc="15" i="1">
                <a:latin typeface="Arial"/>
                <a:cs typeface="Arial"/>
              </a:rPr>
              <a:t> </a:t>
            </a:r>
            <a:r>
              <a:rPr dirty="0" sz="2800" spc="-225" i="1">
                <a:latin typeface="Arial"/>
                <a:cs typeface="Arial"/>
              </a:rPr>
              <a:t>syllabus</a:t>
            </a:r>
            <a:r>
              <a:rPr dirty="0" sz="2800" spc="5" i="1">
                <a:latin typeface="Arial"/>
                <a:cs typeface="Arial"/>
              </a:rPr>
              <a:t> </a:t>
            </a:r>
            <a:r>
              <a:rPr dirty="0" sz="2800" spc="-120" i="1">
                <a:latin typeface="Arial"/>
                <a:cs typeface="Arial"/>
              </a:rPr>
              <a:t>pp.</a:t>
            </a:r>
            <a:r>
              <a:rPr dirty="0" sz="2800" spc="30" i="1">
                <a:latin typeface="Arial"/>
                <a:cs typeface="Arial"/>
              </a:rPr>
              <a:t> </a:t>
            </a:r>
            <a:r>
              <a:rPr dirty="0" sz="2800" spc="-30" i="1">
                <a:latin typeface="Arial"/>
                <a:cs typeface="Arial"/>
              </a:rPr>
              <a:t>10-</a:t>
            </a:r>
            <a:r>
              <a:rPr dirty="0" sz="2800" spc="-25" i="1">
                <a:latin typeface="Arial"/>
                <a:cs typeface="Arial"/>
              </a:rPr>
              <a:t>11</a:t>
            </a:r>
            <a:endParaRPr sz="2800">
              <a:latin typeface="Arial"/>
              <a:cs typeface="Arial"/>
            </a:endParaRPr>
          </a:p>
          <a:p>
            <a:pPr marL="651510" indent="-273685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651510" algn="l"/>
              </a:tabLst>
            </a:pPr>
            <a:r>
              <a:rPr dirty="0" sz="2800" spc="-25">
                <a:latin typeface="Arial"/>
                <a:cs typeface="Arial"/>
              </a:rPr>
              <a:t>48-</a:t>
            </a:r>
            <a:r>
              <a:rPr dirty="0" sz="2800" spc="-345">
                <a:latin typeface="Arial"/>
                <a:cs typeface="Arial"/>
              </a:rPr>
              <a:t>h</a:t>
            </a:r>
            <a:r>
              <a:rPr dirty="0" sz="2800">
                <a:latin typeface="Arial"/>
                <a:cs typeface="Arial"/>
              </a:rPr>
              <a:t> </a:t>
            </a:r>
            <a:r>
              <a:rPr dirty="0" sz="2800" spc="-105">
                <a:latin typeface="Arial"/>
                <a:cs typeface="Arial"/>
              </a:rPr>
              <a:t>grace</a:t>
            </a:r>
            <a:r>
              <a:rPr dirty="0" sz="2800" spc="-90">
                <a:latin typeface="Arial"/>
                <a:cs typeface="Arial"/>
              </a:rPr>
              <a:t> </a:t>
            </a:r>
            <a:r>
              <a:rPr dirty="0" sz="2800" spc="-40">
                <a:latin typeface="Arial"/>
                <a:cs typeface="Arial"/>
              </a:rPr>
              <a:t>period</a:t>
            </a:r>
            <a:r>
              <a:rPr dirty="0" sz="2800" spc="-50">
                <a:latin typeface="Arial"/>
                <a:cs typeface="Arial"/>
              </a:rPr>
              <a:t> </a:t>
            </a:r>
            <a:r>
              <a:rPr dirty="0" sz="2800" spc="-270">
                <a:latin typeface="Arial"/>
                <a:cs typeface="Arial"/>
              </a:rPr>
              <a:t>on</a:t>
            </a:r>
            <a:r>
              <a:rPr dirty="0" sz="2800">
                <a:latin typeface="Arial"/>
                <a:cs typeface="Arial"/>
              </a:rPr>
              <a:t> </a:t>
            </a:r>
            <a:r>
              <a:rPr dirty="0" sz="2800" spc="-280">
                <a:latin typeface="Arial"/>
                <a:cs typeface="Arial"/>
              </a:rPr>
              <a:t>Assignments</a:t>
            </a:r>
            <a:r>
              <a:rPr dirty="0" sz="2800" spc="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&amp;</a:t>
            </a:r>
            <a:r>
              <a:rPr dirty="0" sz="2800" spc="-3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Activities</a:t>
            </a:r>
            <a:endParaRPr sz="28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520"/>
              </a:spcBef>
              <a:buClr>
                <a:srgbClr val="717BA2"/>
              </a:buClr>
              <a:buSzPct val="68750"/>
              <a:buFont typeface="Wingdings"/>
              <a:buChar char=""/>
              <a:tabLst>
                <a:tab pos="927100" algn="l"/>
              </a:tabLst>
            </a:pPr>
            <a:r>
              <a:rPr dirty="0" sz="2400" spc="-220">
                <a:latin typeface="Arial"/>
                <a:cs typeface="Arial"/>
              </a:rPr>
              <a:t>no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 spc="-200">
                <a:latin typeface="Arial"/>
                <a:cs typeface="Arial"/>
              </a:rPr>
              <a:t>questions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spc="-155">
                <a:latin typeface="Arial"/>
                <a:cs typeface="Arial"/>
              </a:rPr>
              <a:t>asked,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 spc="-220">
                <a:latin typeface="Arial"/>
                <a:cs typeface="Arial"/>
              </a:rPr>
              <a:t>no</a:t>
            </a:r>
            <a:r>
              <a:rPr dirty="0" sz="2400" spc="-20">
                <a:latin typeface="Arial"/>
                <a:cs typeface="Arial"/>
              </a:rPr>
              <a:t> </a:t>
            </a:r>
            <a:r>
              <a:rPr dirty="0" sz="2400" spc="-155">
                <a:latin typeface="Arial"/>
                <a:cs typeface="Arial"/>
              </a:rPr>
              <a:t>need</a:t>
            </a:r>
            <a:r>
              <a:rPr dirty="0" sz="2400" spc="-1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to</a:t>
            </a:r>
            <a:r>
              <a:rPr dirty="0" sz="2400" spc="-80">
                <a:latin typeface="Arial"/>
                <a:cs typeface="Arial"/>
              </a:rPr>
              <a:t> </a:t>
            </a:r>
            <a:r>
              <a:rPr dirty="0" sz="2400" spc="-195">
                <a:latin typeface="Arial"/>
                <a:cs typeface="Arial"/>
              </a:rPr>
              <a:t>ask</a:t>
            </a:r>
            <a:r>
              <a:rPr dirty="0" sz="2400">
                <a:latin typeface="Arial"/>
                <a:cs typeface="Arial"/>
              </a:rPr>
              <a:t> </a:t>
            </a:r>
            <a:r>
              <a:rPr dirty="0" sz="2400" spc="-185">
                <a:latin typeface="Arial"/>
                <a:cs typeface="Arial"/>
              </a:rPr>
              <a:t>permission,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 spc="-220">
                <a:latin typeface="Arial"/>
                <a:cs typeface="Arial"/>
              </a:rPr>
              <a:t>no</a:t>
            </a:r>
            <a:r>
              <a:rPr dirty="0" sz="2400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late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 spc="-80">
                <a:latin typeface="Arial"/>
                <a:cs typeface="Arial"/>
              </a:rPr>
              <a:t>penalties</a:t>
            </a:r>
            <a:endParaRPr sz="2400">
              <a:latin typeface="Arial"/>
              <a:cs typeface="Arial"/>
            </a:endParaRPr>
          </a:p>
          <a:p>
            <a:pPr lvl="1" marL="927100" indent="-228600">
              <a:lnSpc>
                <a:spcPct val="100000"/>
              </a:lnSpc>
              <a:spcBef>
                <a:spcPts val="505"/>
              </a:spcBef>
              <a:buClr>
                <a:srgbClr val="717BA2"/>
              </a:buClr>
              <a:buSzPct val="68750"/>
              <a:buFont typeface="Wingdings"/>
              <a:buChar char=""/>
              <a:tabLst>
                <a:tab pos="927100" algn="l"/>
              </a:tabLst>
            </a:pPr>
            <a:r>
              <a:rPr dirty="0" sz="2400" spc="-195">
                <a:latin typeface="Arial"/>
                <a:cs typeface="Arial"/>
              </a:rPr>
              <a:t>can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 spc="-285">
                <a:latin typeface="Arial"/>
                <a:cs typeface="Arial"/>
              </a:rPr>
              <a:t>use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for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225">
                <a:latin typeface="Arial"/>
                <a:cs typeface="Arial"/>
              </a:rPr>
              <a:t>as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150">
                <a:latin typeface="Arial"/>
                <a:cs typeface="Arial"/>
              </a:rPr>
              <a:t>Assignments/Activities</a:t>
            </a:r>
            <a:r>
              <a:rPr dirty="0" sz="2400" spc="-10">
                <a:latin typeface="Arial"/>
                <a:cs typeface="Arial"/>
              </a:rPr>
              <a:t> </a:t>
            </a:r>
            <a:r>
              <a:rPr dirty="0" sz="2400" spc="-225">
                <a:latin typeface="Arial"/>
                <a:cs typeface="Arial"/>
              </a:rPr>
              <a:t>as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needed</a:t>
            </a:r>
            <a:endParaRPr sz="2400">
              <a:latin typeface="Arial"/>
              <a:cs typeface="Arial"/>
            </a:endParaRPr>
          </a:p>
          <a:p>
            <a:pPr marL="652780" marR="73660" indent="-274320">
              <a:lnSpc>
                <a:spcPct val="100000"/>
              </a:lnSpc>
              <a:spcBef>
                <a:spcPts val="570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652780" algn="l"/>
              </a:tabLst>
            </a:pPr>
            <a:r>
              <a:rPr dirty="0" sz="2800" spc="-395">
                <a:latin typeface="Arial"/>
                <a:cs typeface="Arial"/>
              </a:rPr>
              <a:t>ALL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445">
                <a:latin typeface="Arial"/>
                <a:cs typeface="Arial"/>
              </a:rPr>
              <a:t>OTHER</a:t>
            </a:r>
            <a:r>
              <a:rPr dirty="0" sz="2800" spc="5">
                <a:latin typeface="Arial"/>
                <a:cs typeface="Arial"/>
              </a:rPr>
              <a:t> </a:t>
            </a:r>
            <a:r>
              <a:rPr dirty="0" sz="2800" spc="-215">
                <a:latin typeface="Arial"/>
                <a:cs typeface="Arial"/>
              </a:rPr>
              <a:t>requests</a:t>
            </a:r>
            <a:r>
              <a:rPr dirty="0" sz="2800" spc="10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go</a:t>
            </a:r>
            <a:r>
              <a:rPr dirty="0" sz="2800" spc="-195">
                <a:latin typeface="Arial"/>
                <a:cs typeface="Arial"/>
              </a:rPr>
              <a:t> </a:t>
            </a:r>
            <a:r>
              <a:rPr dirty="0" sz="2800">
                <a:latin typeface="Arial"/>
                <a:cs typeface="Arial"/>
              </a:rPr>
              <a:t>to</a:t>
            </a:r>
            <a:r>
              <a:rPr dirty="0" sz="2800" spc="-45">
                <a:latin typeface="Arial"/>
                <a:cs typeface="Arial"/>
              </a:rPr>
              <a:t> </a:t>
            </a:r>
            <a:r>
              <a:rPr dirty="0" sz="2800" spc="-180">
                <a:latin typeface="Arial"/>
                <a:cs typeface="Arial"/>
              </a:rPr>
              <a:t>Faculty</a:t>
            </a:r>
            <a:r>
              <a:rPr dirty="0" sz="2800" spc="-15">
                <a:latin typeface="Arial"/>
                <a:cs typeface="Arial"/>
              </a:rPr>
              <a:t> </a:t>
            </a:r>
            <a:r>
              <a:rPr dirty="0" sz="2800" spc="-200">
                <a:latin typeface="Arial"/>
                <a:cs typeface="Arial"/>
              </a:rPr>
              <a:t>Academic</a:t>
            </a:r>
            <a:r>
              <a:rPr dirty="0" sz="2800" spc="-10">
                <a:latin typeface="Arial"/>
                <a:cs typeface="Arial"/>
              </a:rPr>
              <a:t> </a:t>
            </a:r>
            <a:r>
              <a:rPr dirty="0" sz="2800" spc="-195">
                <a:latin typeface="Arial"/>
                <a:cs typeface="Arial"/>
              </a:rPr>
              <a:t>Counseling, </a:t>
            </a:r>
            <a:r>
              <a:rPr dirty="0" sz="2800" spc="-345">
                <a:latin typeface="Arial"/>
                <a:cs typeface="Arial"/>
              </a:rPr>
              <a:t>such</a:t>
            </a:r>
            <a:r>
              <a:rPr dirty="0" sz="2800" spc="15">
                <a:latin typeface="Arial"/>
                <a:cs typeface="Arial"/>
              </a:rPr>
              <a:t> </a:t>
            </a:r>
            <a:r>
              <a:rPr dirty="0" sz="2800" spc="-25">
                <a:latin typeface="Arial"/>
                <a:cs typeface="Arial"/>
              </a:rPr>
              <a:t>as: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35253" y="4275582"/>
            <a:ext cx="5254625" cy="882015"/>
          </a:xfrm>
          <a:prstGeom prst="rect">
            <a:avLst/>
          </a:prstGeom>
        </p:spPr>
        <p:txBody>
          <a:bodyPr wrap="square" lIns="0" tIns="74930" rIns="0" bIns="0" rtlCol="0" vert="horz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590"/>
              </a:spcBef>
              <a:buClr>
                <a:srgbClr val="717BA2"/>
              </a:buClr>
              <a:buSzPct val="50000"/>
              <a:buFont typeface="Wingdings"/>
              <a:buChar char=""/>
              <a:tabLst>
                <a:tab pos="240665" algn="l"/>
              </a:tabLst>
            </a:pPr>
            <a:r>
              <a:rPr dirty="0" sz="2400" spc="-45">
                <a:latin typeface="Arial"/>
                <a:cs typeface="Arial"/>
              </a:rPr>
              <a:t>midterm/final</a:t>
            </a:r>
            <a:r>
              <a:rPr dirty="0" sz="2400">
                <a:latin typeface="Arial"/>
                <a:cs typeface="Arial"/>
              </a:rPr>
              <a:t> </a:t>
            </a:r>
            <a:r>
              <a:rPr dirty="0" sz="2400" spc="-180">
                <a:latin typeface="Arial"/>
                <a:cs typeface="Arial"/>
              </a:rPr>
              <a:t>exam</a:t>
            </a:r>
            <a:r>
              <a:rPr dirty="0" sz="2400">
                <a:latin typeface="Arial"/>
                <a:cs typeface="Arial"/>
              </a:rPr>
              <a:t> </a:t>
            </a:r>
            <a:r>
              <a:rPr dirty="0" sz="2400" spc="-155">
                <a:latin typeface="Arial"/>
                <a:cs typeface="Arial"/>
              </a:rPr>
              <a:t>conflicts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&amp;</a:t>
            </a:r>
            <a:r>
              <a:rPr dirty="0" sz="2400" spc="5">
                <a:latin typeface="Arial"/>
                <a:cs typeface="Arial"/>
              </a:rPr>
              <a:t> </a:t>
            </a:r>
            <a:r>
              <a:rPr dirty="0" sz="2400" spc="-95">
                <a:latin typeface="Arial"/>
                <a:cs typeface="Arial"/>
              </a:rPr>
              <a:t>absences</a:t>
            </a:r>
            <a:endParaRPr sz="2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495"/>
              </a:spcBef>
              <a:buClr>
                <a:srgbClr val="717BA2"/>
              </a:buClr>
              <a:buSzPct val="50000"/>
              <a:buFont typeface="Wingdings"/>
              <a:buChar char=""/>
              <a:tabLst>
                <a:tab pos="240665" algn="l"/>
              </a:tabLst>
            </a:pPr>
            <a:r>
              <a:rPr dirty="0" sz="2400" spc="-204">
                <a:latin typeface="Arial"/>
                <a:cs typeface="Arial"/>
              </a:rPr>
              <a:t>extensions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 spc="-125">
                <a:latin typeface="Arial"/>
                <a:cs typeface="Arial"/>
              </a:rPr>
              <a:t>beyond</a:t>
            </a:r>
            <a:r>
              <a:rPr dirty="0" sz="2400">
                <a:latin typeface="Arial"/>
                <a:cs typeface="Arial"/>
              </a:rPr>
              <a:t> </a:t>
            </a:r>
            <a:r>
              <a:rPr dirty="0" sz="2400" spc="-155">
                <a:latin typeface="Arial"/>
                <a:cs typeface="Arial"/>
              </a:rPr>
              <a:t>the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 spc="-20">
                <a:latin typeface="Arial"/>
                <a:cs typeface="Arial"/>
              </a:rPr>
              <a:t>48-</a:t>
            </a:r>
            <a:r>
              <a:rPr dirty="0" sz="2400" spc="-295">
                <a:latin typeface="Arial"/>
                <a:cs typeface="Arial"/>
              </a:rPr>
              <a:t>h</a:t>
            </a:r>
            <a:r>
              <a:rPr dirty="0" sz="2400">
                <a:latin typeface="Arial"/>
                <a:cs typeface="Arial"/>
              </a:rPr>
              <a:t> </a:t>
            </a:r>
            <a:r>
              <a:rPr dirty="0" sz="2400" spc="-90">
                <a:latin typeface="Arial"/>
                <a:cs typeface="Arial"/>
              </a:rPr>
              <a:t>grace</a:t>
            </a:r>
            <a:r>
              <a:rPr dirty="0" sz="2400" spc="-5">
                <a:latin typeface="Arial"/>
                <a:cs typeface="Arial"/>
              </a:rPr>
              <a:t> </a:t>
            </a:r>
            <a:r>
              <a:rPr dirty="0" sz="2400" spc="-10">
                <a:latin typeface="Arial"/>
                <a:cs typeface="Arial"/>
              </a:rPr>
              <a:t>period</a:t>
            </a:r>
            <a:endParaRPr sz="2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537083" y="5357523"/>
            <a:ext cx="1138736" cy="114176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556754" y="4453254"/>
            <a:ext cx="1071880" cy="8489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2065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150">
                <a:latin typeface="Arial"/>
                <a:cs typeface="Arial"/>
              </a:rPr>
              <a:t>For</a:t>
            </a:r>
            <a:r>
              <a:rPr dirty="0" sz="1800">
                <a:latin typeface="Arial"/>
                <a:cs typeface="Arial"/>
              </a:rPr>
              <a:t> </a:t>
            </a:r>
            <a:r>
              <a:rPr dirty="0" sz="1800" spc="-200" b="1">
                <a:latin typeface="Arial"/>
                <a:cs typeface="Arial"/>
              </a:rPr>
              <a:t>Science </a:t>
            </a:r>
            <a:r>
              <a:rPr dirty="0" sz="1800" spc="-10">
                <a:latin typeface="Arial"/>
                <a:cs typeface="Arial"/>
              </a:rPr>
              <a:t>Academic </a:t>
            </a:r>
            <a:r>
              <a:rPr dirty="0" sz="1800" spc="-125">
                <a:latin typeface="Arial"/>
                <a:cs typeface="Arial"/>
              </a:rPr>
              <a:t>Counseling: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1147" y="5540146"/>
            <a:ext cx="6398260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2400" spc="-190" i="1">
                <a:latin typeface="Arial"/>
                <a:cs typeface="Arial"/>
              </a:rPr>
              <a:t>Don’t</a:t>
            </a:r>
            <a:r>
              <a:rPr dirty="0" sz="2400" i="1">
                <a:latin typeface="Arial"/>
                <a:cs typeface="Arial"/>
              </a:rPr>
              <a:t> </a:t>
            </a:r>
            <a:r>
              <a:rPr dirty="0" sz="2400" spc="-90" i="1">
                <a:latin typeface="Arial"/>
                <a:cs typeface="Arial"/>
              </a:rPr>
              <a:t>wait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for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spc="-135" i="1">
                <a:latin typeface="Arial"/>
                <a:cs typeface="Arial"/>
              </a:rPr>
              <a:t>confirmation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of</a:t>
            </a:r>
            <a:r>
              <a:rPr dirty="0" sz="2400" spc="200" i="1">
                <a:latin typeface="Arial"/>
                <a:cs typeface="Arial"/>
              </a:rPr>
              <a:t> </a:t>
            </a:r>
            <a:r>
              <a:rPr dirty="0" sz="2400" spc="-170" i="1">
                <a:latin typeface="Arial"/>
                <a:cs typeface="Arial"/>
              </a:rPr>
              <a:t>consideration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 spc="-20" i="1">
                <a:latin typeface="Arial"/>
                <a:cs typeface="Arial"/>
              </a:rPr>
              <a:t>from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spc="-225" i="1">
                <a:latin typeface="Arial"/>
                <a:cs typeface="Arial"/>
              </a:rPr>
              <a:t>Academic</a:t>
            </a:r>
            <a:r>
              <a:rPr dirty="0" sz="2400" spc="35" i="1">
                <a:latin typeface="Arial"/>
                <a:cs typeface="Arial"/>
              </a:rPr>
              <a:t> </a:t>
            </a:r>
            <a:r>
              <a:rPr dirty="0" sz="2400" spc="-215" i="1">
                <a:latin typeface="Arial"/>
                <a:cs typeface="Arial"/>
              </a:rPr>
              <a:t>Counseling</a:t>
            </a:r>
            <a:r>
              <a:rPr dirty="0" sz="2400" spc="15" i="1">
                <a:latin typeface="Arial"/>
                <a:cs typeface="Arial"/>
              </a:rPr>
              <a:t> </a:t>
            </a:r>
            <a:r>
              <a:rPr dirty="0" sz="2400" spc="-125" i="1">
                <a:latin typeface="Arial"/>
                <a:cs typeface="Arial"/>
              </a:rPr>
              <a:t>before</a:t>
            </a:r>
            <a:r>
              <a:rPr dirty="0" sz="2400" spc="25" i="1">
                <a:latin typeface="Arial"/>
                <a:cs typeface="Arial"/>
              </a:rPr>
              <a:t> </a:t>
            </a:r>
            <a:r>
              <a:rPr dirty="0" sz="2400" spc="-175" i="1">
                <a:latin typeface="Arial"/>
                <a:cs typeface="Arial"/>
              </a:rPr>
              <a:t>submitting.</a:t>
            </a:r>
            <a:r>
              <a:rPr dirty="0" sz="2400" spc="40" i="1">
                <a:latin typeface="Arial"/>
                <a:cs typeface="Arial"/>
              </a:rPr>
              <a:t> </a:t>
            </a:r>
            <a:r>
              <a:rPr dirty="0" sz="2400" spc="-290" i="1">
                <a:latin typeface="Arial"/>
                <a:cs typeface="Arial"/>
              </a:rPr>
              <a:t>SUBMIT</a:t>
            </a:r>
            <a:r>
              <a:rPr dirty="0" sz="2400" spc="35" i="1">
                <a:latin typeface="Arial"/>
                <a:cs typeface="Arial"/>
              </a:rPr>
              <a:t> </a:t>
            </a:r>
            <a:r>
              <a:rPr dirty="0" sz="2400" spc="-310" i="1">
                <a:latin typeface="Arial"/>
                <a:cs typeface="Arial"/>
              </a:rPr>
              <a:t>when </a:t>
            </a:r>
            <a:r>
              <a:rPr dirty="0" sz="2400" spc="-145" i="1">
                <a:latin typeface="Arial"/>
                <a:cs typeface="Arial"/>
              </a:rPr>
              <a:t>ready</a:t>
            </a:r>
            <a:r>
              <a:rPr dirty="0" sz="2400" spc="-25" i="1">
                <a:latin typeface="Arial"/>
                <a:cs typeface="Arial"/>
              </a:rPr>
              <a:t> </a:t>
            </a:r>
            <a:r>
              <a:rPr dirty="0" sz="2400" i="1">
                <a:latin typeface="Arial"/>
                <a:cs typeface="Arial"/>
              </a:rPr>
              <a:t>to</a:t>
            </a:r>
            <a:r>
              <a:rPr dirty="0" sz="2400" spc="-45" i="1">
                <a:latin typeface="Arial"/>
                <a:cs typeface="Arial"/>
              </a:rPr>
              <a:t> </a:t>
            </a:r>
            <a:r>
              <a:rPr dirty="0" sz="2400" spc="-204" i="1">
                <a:latin typeface="Arial"/>
                <a:cs typeface="Arial"/>
              </a:rPr>
              <a:t>the</a:t>
            </a:r>
            <a:r>
              <a:rPr dirty="0" sz="2400" spc="5" i="1">
                <a:latin typeface="Arial"/>
                <a:cs typeface="Arial"/>
              </a:rPr>
              <a:t> </a:t>
            </a:r>
            <a:r>
              <a:rPr dirty="0" sz="2400" spc="-140" i="1">
                <a:latin typeface="Arial"/>
                <a:cs typeface="Arial"/>
              </a:rPr>
              <a:t>‘Late</a:t>
            </a:r>
            <a:r>
              <a:rPr dirty="0" sz="2400" spc="-10" i="1">
                <a:latin typeface="Arial"/>
                <a:cs typeface="Arial"/>
              </a:rPr>
              <a:t> </a:t>
            </a:r>
            <a:r>
              <a:rPr dirty="0" sz="2400" spc="-245" i="1">
                <a:latin typeface="Arial"/>
                <a:cs typeface="Arial"/>
              </a:rPr>
              <a:t>Submissions’</a:t>
            </a:r>
            <a:r>
              <a:rPr dirty="0" sz="2400" spc="-20" i="1">
                <a:latin typeface="Arial"/>
                <a:cs typeface="Arial"/>
              </a:rPr>
              <a:t> </a:t>
            </a:r>
            <a:r>
              <a:rPr dirty="0" sz="2400" spc="-229" i="1">
                <a:latin typeface="Arial"/>
                <a:cs typeface="Arial"/>
              </a:rPr>
              <a:t>on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 spc="-160" i="1">
                <a:latin typeface="Arial"/>
                <a:cs typeface="Arial"/>
              </a:rPr>
              <a:t>OWL</a:t>
            </a:r>
            <a:r>
              <a:rPr dirty="0" sz="2400" spc="-5" i="1">
                <a:latin typeface="Arial"/>
                <a:cs typeface="Arial"/>
              </a:rPr>
              <a:t> </a:t>
            </a:r>
            <a:r>
              <a:rPr dirty="0" sz="2400" spc="-155" i="1">
                <a:latin typeface="Arial"/>
                <a:cs typeface="Arial"/>
              </a:rPr>
              <a:t>Assignments.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79755" rIns="0" bIns="0" rtlCol="0" vert="horz">
            <a:spAutoFit/>
          </a:bodyPr>
          <a:lstStyle/>
          <a:p>
            <a:pPr marL="68580">
              <a:lnSpc>
                <a:spcPct val="100000"/>
              </a:lnSpc>
              <a:spcBef>
                <a:spcPts val="100"/>
              </a:spcBef>
            </a:pPr>
            <a:r>
              <a:rPr dirty="0" spc="-390"/>
              <a:t>Your</a:t>
            </a:r>
            <a:r>
              <a:rPr dirty="0" spc="-45"/>
              <a:t> </a:t>
            </a:r>
            <a:r>
              <a:rPr dirty="0" spc="-215"/>
              <a:t>‘homework’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40"/>
              </a:lnSpc>
            </a:pPr>
            <a:r>
              <a:rPr dirty="0" spc="-10"/>
              <a:t>Biol/Stat</a:t>
            </a:r>
            <a:r>
              <a:rPr dirty="0" spc="-15"/>
              <a:t> </a:t>
            </a:r>
            <a:r>
              <a:rPr dirty="0"/>
              <a:t>2244</a:t>
            </a:r>
            <a:r>
              <a:rPr dirty="0" spc="15"/>
              <a:t> </a:t>
            </a:r>
            <a:r>
              <a:rPr dirty="0"/>
              <a:t>–</a:t>
            </a:r>
            <a:r>
              <a:rPr dirty="0" spc="10"/>
              <a:t> </a:t>
            </a:r>
            <a:r>
              <a:rPr dirty="0" spc="-20"/>
              <a:t>Peter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88900" rIns="0" bIns="0" rtlCol="0" vert="horz">
            <a:spAutoFit/>
          </a:bodyPr>
          <a:lstStyle/>
          <a:p>
            <a:pPr marL="286385" indent="-273685">
              <a:lnSpc>
                <a:spcPct val="100000"/>
              </a:lnSpc>
              <a:spcBef>
                <a:spcPts val="700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286385" algn="l"/>
              </a:tabLst>
            </a:pPr>
            <a:r>
              <a:rPr dirty="0" spc="-190"/>
              <a:t>Complete</a:t>
            </a:r>
            <a:r>
              <a:rPr dirty="0" spc="-35"/>
              <a:t> </a:t>
            </a:r>
            <a:r>
              <a:rPr dirty="0" spc="-190"/>
              <a:t>the</a:t>
            </a:r>
            <a:r>
              <a:rPr dirty="0" spc="-30"/>
              <a:t> </a:t>
            </a:r>
            <a:r>
              <a:rPr dirty="0" spc="-114"/>
              <a:t>‘polls’</a:t>
            </a:r>
            <a:r>
              <a:rPr dirty="0" spc="-110"/>
              <a:t> </a:t>
            </a:r>
            <a:r>
              <a:rPr dirty="0" spc="-285"/>
              <a:t>on</a:t>
            </a:r>
            <a:r>
              <a:rPr dirty="0" spc="-20"/>
              <a:t> </a:t>
            </a:r>
            <a:r>
              <a:rPr dirty="0" spc="-130"/>
              <a:t>OWL</a:t>
            </a:r>
            <a:r>
              <a:rPr dirty="0" spc="-90"/>
              <a:t> </a:t>
            </a:r>
            <a:r>
              <a:rPr dirty="0"/>
              <a:t>by</a:t>
            </a:r>
            <a:r>
              <a:rPr dirty="0" spc="-114"/>
              <a:t> </a:t>
            </a:r>
            <a:r>
              <a:rPr dirty="0" spc="-130"/>
              <a:t>Wednesday</a:t>
            </a:r>
          </a:p>
          <a:p>
            <a:pPr marL="286385" indent="-273685">
              <a:lnSpc>
                <a:spcPct val="100000"/>
              </a:lnSpc>
              <a:spcBef>
                <a:spcPts val="600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286385" algn="l"/>
              </a:tabLst>
            </a:pPr>
            <a:r>
              <a:rPr dirty="0" spc="-275"/>
              <a:t>Review</a:t>
            </a:r>
            <a:r>
              <a:rPr dirty="0" spc="-25"/>
              <a:t> </a:t>
            </a:r>
            <a:r>
              <a:rPr dirty="0" spc="-145"/>
              <a:t>information</a:t>
            </a:r>
            <a:r>
              <a:rPr dirty="0" spc="-25"/>
              <a:t> </a:t>
            </a:r>
            <a:r>
              <a:rPr dirty="0" spc="-285"/>
              <a:t>on</a:t>
            </a:r>
            <a:r>
              <a:rPr dirty="0" spc="10"/>
              <a:t> </a:t>
            </a:r>
            <a:r>
              <a:rPr dirty="0" spc="-20"/>
              <a:t>OWL:</a:t>
            </a:r>
          </a:p>
          <a:p>
            <a:pPr lvl="1" marL="560070" indent="-227965">
              <a:lnSpc>
                <a:spcPct val="100000"/>
              </a:lnSpc>
              <a:spcBef>
                <a:spcPts val="515"/>
              </a:spcBef>
              <a:buClr>
                <a:srgbClr val="717BA2"/>
              </a:buClr>
              <a:buSzPct val="68965"/>
              <a:buFont typeface="Wingdings"/>
              <a:buChar char=""/>
              <a:tabLst>
                <a:tab pos="560070" algn="l"/>
              </a:tabLst>
            </a:pPr>
            <a:r>
              <a:rPr dirty="0" sz="2900" spc="-254">
                <a:latin typeface="Arial"/>
                <a:cs typeface="Arial"/>
              </a:rPr>
              <a:t>Course</a:t>
            </a:r>
            <a:r>
              <a:rPr dirty="0" sz="2900" spc="-5">
                <a:latin typeface="Arial"/>
                <a:cs typeface="Arial"/>
              </a:rPr>
              <a:t> </a:t>
            </a:r>
            <a:r>
              <a:rPr dirty="0" sz="2900" spc="-140">
                <a:latin typeface="Arial"/>
                <a:cs typeface="Arial"/>
              </a:rPr>
              <a:t>content/Understanding</a:t>
            </a:r>
            <a:r>
              <a:rPr dirty="0" sz="2900" spc="-20">
                <a:latin typeface="Arial"/>
                <a:cs typeface="Arial"/>
              </a:rPr>
              <a:t> 2244</a:t>
            </a:r>
            <a:endParaRPr sz="2900">
              <a:latin typeface="Arial"/>
              <a:cs typeface="Arial"/>
            </a:endParaRPr>
          </a:p>
          <a:p>
            <a:pPr lvl="1" marL="560070" indent="-227965">
              <a:lnSpc>
                <a:spcPct val="100000"/>
              </a:lnSpc>
              <a:spcBef>
                <a:spcPts val="495"/>
              </a:spcBef>
              <a:buClr>
                <a:srgbClr val="717BA2"/>
              </a:buClr>
              <a:buSzPct val="68965"/>
              <a:buFont typeface="Wingdings"/>
              <a:buChar char=""/>
              <a:tabLst>
                <a:tab pos="560070" algn="l"/>
              </a:tabLst>
            </a:pPr>
            <a:r>
              <a:rPr dirty="0" sz="2900" spc="-254">
                <a:latin typeface="Arial"/>
                <a:cs typeface="Arial"/>
              </a:rPr>
              <a:t>Course</a:t>
            </a:r>
            <a:r>
              <a:rPr dirty="0" sz="2900">
                <a:latin typeface="Arial"/>
                <a:cs typeface="Arial"/>
              </a:rPr>
              <a:t> </a:t>
            </a:r>
            <a:r>
              <a:rPr dirty="0" sz="2900" spc="-165">
                <a:latin typeface="Arial"/>
                <a:cs typeface="Arial"/>
              </a:rPr>
              <a:t>content/course</a:t>
            </a:r>
            <a:r>
              <a:rPr dirty="0" sz="2900" spc="-5">
                <a:latin typeface="Arial"/>
                <a:cs typeface="Arial"/>
              </a:rPr>
              <a:t> </a:t>
            </a:r>
            <a:r>
              <a:rPr dirty="0" sz="2900" spc="-175">
                <a:latin typeface="Arial"/>
                <a:cs typeface="Arial"/>
              </a:rPr>
              <a:t>syllabus</a:t>
            </a:r>
            <a:r>
              <a:rPr dirty="0" sz="2900" spc="-5">
                <a:latin typeface="Arial"/>
                <a:cs typeface="Arial"/>
              </a:rPr>
              <a:t> </a:t>
            </a:r>
            <a:r>
              <a:rPr dirty="0" sz="2900">
                <a:latin typeface="Arial"/>
                <a:cs typeface="Arial"/>
              </a:rPr>
              <a:t>&amp;</a:t>
            </a:r>
            <a:r>
              <a:rPr dirty="0" sz="2900" spc="15">
                <a:latin typeface="Arial"/>
                <a:cs typeface="Arial"/>
              </a:rPr>
              <a:t> </a:t>
            </a:r>
            <a:r>
              <a:rPr dirty="0" sz="2900" spc="-185">
                <a:latin typeface="Arial"/>
                <a:cs typeface="Arial"/>
              </a:rPr>
              <a:t>AI</a:t>
            </a:r>
            <a:r>
              <a:rPr dirty="0" sz="2900" spc="5">
                <a:latin typeface="Arial"/>
                <a:cs typeface="Arial"/>
              </a:rPr>
              <a:t> </a:t>
            </a:r>
            <a:r>
              <a:rPr dirty="0" sz="2900" spc="-10">
                <a:latin typeface="Arial"/>
                <a:cs typeface="Arial"/>
              </a:rPr>
              <a:t>policy</a:t>
            </a:r>
            <a:endParaRPr sz="2900">
              <a:latin typeface="Arial"/>
              <a:cs typeface="Arial"/>
            </a:endParaRPr>
          </a:p>
          <a:p>
            <a:pPr marL="286385" indent="-273685">
              <a:lnSpc>
                <a:spcPct val="100000"/>
              </a:lnSpc>
              <a:spcBef>
                <a:spcPts val="585"/>
              </a:spcBef>
              <a:buClr>
                <a:srgbClr val="717BA2"/>
              </a:buClr>
              <a:buSzPct val="50000"/>
              <a:buFont typeface="Wingdings"/>
              <a:buChar char=""/>
              <a:tabLst>
                <a:tab pos="286385" algn="l"/>
              </a:tabLst>
            </a:pPr>
            <a:r>
              <a:rPr dirty="0" spc="-360"/>
              <a:t>Post</a:t>
            </a:r>
            <a:r>
              <a:rPr dirty="0" spc="-30"/>
              <a:t> </a:t>
            </a:r>
            <a:r>
              <a:rPr dirty="0" spc="-155"/>
              <a:t>your</a:t>
            </a:r>
            <a:r>
              <a:rPr dirty="0" spc="-70"/>
              <a:t> </a:t>
            </a:r>
            <a:r>
              <a:rPr dirty="0" spc="-250"/>
              <a:t>questions</a:t>
            </a:r>
            <a:r>
              <a:rPr dirty="0" spc="-50"/>
              <a:t> </a:t>
            </a:r>
            <a:r>
              <a:rPr dirty="0"/>
              <a:t>to</a:t>
            </a:r>
            <a:r>
              <a:rPr dirty="0" spc="-110"/>
              <a:t> </a:t>
            </a:r>
            <a:r>
              <a:rPr dirty="0" spc="-204"/>
              <a:t>the</a:t>
            </a:r>
            <a:r>
              <a:rPr dirty="0" spc="-20"/>
              <a:t> </a:t>
            </a:r>
            <a:r>
              <a:rPr dirty="0" spc="-150"/>
              <a:t>OWL</a:t>
            </a:r>
            <a:r>
              <a:rPr dirty="0" spc="-60"/>
              <a:t> </a:t>
            </a:r>
            <a:r>
              <a:rPr dirty="0" spc="-370"/>
              <a:t>Forums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Jennifer Peter</dc:creator>
  <dc:title>Welcome to Biol/Stat 2244A</dc:title>
  <dcterms:created xsi:type="dcterms:W3CDTF">2026-01-30T16:47:47Z</dcterms:created>
  <dcterms:modified xsi:type="dcterms:W3CDTF">2026-01-30T16:47:47Z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2023-09-08T00:00:00Z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2026-01-30T00:00:00Z</vt:filetime>
  </property>
  <property fmtid="{D5CDD505-2E9C-101B-9397-08002B2CF9AE}" pid="5" name="Producer">
    <vt:lpwstr>Microsoft® PowerPoint® for Microsoft 365</vt:lpwstr>
  </property>
</Properties>
</file>